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5" r:id="rId10"/>
    <p:sldId id="266" r:id="rId11"/>
    <p:sldId id="268" r:id="rId12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658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415116" y="2053367"/>
            <a:ext cx="6187440" cy="5603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191656" y="2045747"/>
            <a:ext cx="6492875" cy="6365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00" b="0" i="0">
                <a:solidFill>
                  <a:srgbClr val="171A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86000" y="10134600"/>
            <a:ext cx="13715999" cy="152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0134600"/>
            <a:ext cx="3898106" cy="1523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89923" y="10134600"/>
            <a:ext cx="3898076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802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90848" y="4827904"/>
            <a:ext cx="13360400" cy="3302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1A1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7821" y="700519"/>
            <a:ext cx="5890211" cy="19998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9246" y="3512399"/>
            <a:ext cx="17235805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500" spc="-254" dirty="0">
                <a:solidFill>
                  <a:srgbClr val="7D1816"/>
                </a:solidFill>
              </a:rPr>
              <a:t>CSE-</a:t>
            </a:r>
            <a:r>
              <a:rPr sz="5500" spc="-520" dirty="0">
                <a:solidFill>
                  <a:srgbClr val="7D1816"/>
                </a:solidFill>
              </a:rPr>
              <a:t>400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430" dirty="0">
                <a:solidFill>
                  <a:srgbClr val="7D1816"/>
                </a:solidFill>
              </a:rPr>
              <a:t>Fundamentals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20" dirty="0">
                <a:solidFill>
                  <a:srgbClr val="7D1816"/>
                </a:solidFill>
              </a:rPr>
              <a:t>of</a:t>
            </a:r>
            <a:r>
              <a:rPr sz="5500" spc="-335" dirty="0">
                <a:solidFill>
                  <a:srgbClr val="7D1816"/>
                </a:solidFill>
              </a:rPr>
              <a:t> </a:t>
            </a:r>
            <a:r>
              <a:rPr sz="5500" spc="-360" dirty="0">
                <a:solidFill>
                  <a:srgbClr val="7D1816"/>
                </a:solidFill>
              </a:rPr>
              <a:t>Probability</a:t>
            </a:r>
            <a:r>
              <a:rPr sz="5500" spc="-335" dirty="0">
                <a:solidFill>
                  <a:srgbClr val="7D1816"/>
                </a:solidFill>
              </a:rPr>
              <a:t> in </a:t>
            </a:r>
            <a:r>
              <a:rPr sz="5500" spc="-385" dirty="0">
                <a:solidFill>
                  <a:srgbClr val="7D1816"/>
                </a:solidFill>
              </a:rPr>
              <a:t>Computing</a:t>
            </a:r>
            <a:endParaRPr sz="5500"/>
          </a:p>
        </p:txBody>
      </p:sp>
      <p:sp>
        <p:nvSpPr>
          <p:cNvPr id="4" name="object 4"/>
          <p:cNvSpPr txBox="1"/>
          <p:nvPr/>
        </p:nvSpPr>
        <p:spPr>
          <a:xfrm>
            <a:off x="5868286" y="4814277"/>
            <a:ext cx="6252210" cy="28409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5465"/>
              </a:lnSpc>
              <a:spcBef>
                <a:spcPts val="110"/>
              </a:spcBef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Milestone</a:t>
            </a:r>
            <a:r>
              <a:rPr sz="4600" spc="-295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29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spc="-480" dirty="0">
                <a:solidFill>
                  <a:srgbClr val="7D1816"/>
                </a:solidFill>
                <a:latin typeface="Arial Black"/>
                <a:cs typeface="Arial Black"/>
              </a:rPr>
              <a:t>1</a:t>
            </a:r>
            <a:endParaRPr sz="4600">
              <a:latin typeface="Arial Black"/>
              <a:cs typeface="Arial Black"/>
            </a:endParaRPr>
          </a:p>
          <a:p>
            <a:pPr algn="ctr">
              <a:lnSpc>
                <a:spcPts val="5465"/>
              </a:lnSpc>
            </a:pPr>
            <a:r>
              <a:rPr sz="4600" spc="-355" dirty="0">
                <a:solidFill>
                  <a:srgbClr val="7D1816"/>
                </a:solidFill>
                <a:latin typeface="Arial Black"/>
                <a:cs typeface="Arial Black"/>
              </a:rPr>
              <a:t>Section</a:t>
            </a:r>
            <a:r>
              <a:rPr sz="4600" spc="-260" dirty="0">
                <a:solidFill>
                  <a:srgbClr val="7D1816"/>
                </a:solidFill>
                <a:latin typeface="Arial Black"/>
                <a:cs typeface="Arial Black"/>
              </a:rPr>
              <a:t> </a:t>
            </a:r>
            <a:r>
              <a:rPr sz="4600" spc="-30" dirty="0">
                <a:solidFill>
                  <a:srgbClr val="7D1816"/>
                </a:solidFill>
                <a:latin typeface="Arial Black"/>
                <a:cs typeface="Arial Black"/>
              </a:rPr>
              <a:t>-</a:t>
            </a:r>
            <a:r>
              <a:rPr sz="4600" spc="-480" dirty="0">
                <a:solidFill>
                  <a:srgbClr val="7D1816"/>
                </a:solidFill>
                <a:latin typeface="Arial Black"/>
                <a:cs typeface="Arial Black"/>
              </a:rPr>
              <a:t>1</a:t>
            </a:r>
            <a:endParaRPr sz="460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285"/>
              </a:spcBef>
              <a:tabLst>
                <a:tab pos="3357245" algn="l"/>
              </a:tabLst>
            </a:pPr>
            <a:r>
              <a:rPr sz="4950" spc="-220" dirty="0">
                <a:solidFill>
                  <a:srgbClr val="7D1816"/>
                </a:solidFill>
                <a:latin typeface="Arial Black"/>
                <a:cs typeface="Arial Black"/>
              </a:rPr>
              <a:t>Group-</a:t>
            </a:r>
            <a:r>
              <a:rPr sz="4950" spc="-430" dirty="0">
                <a:solidFill>
                  <a:srgbClr val="7D1816"/>
                </a:solidFill>
                <a:latin typeface="Arial Black"/>
                <a:cs typeface="Arial Black"/>
              </a:rPr>
              <a:t>13:</a:t>
            </a:r>
            <a:r>
              <a:rPr sz="4950" dirty="0">
                <a:solidFill>
                  <a:srgbClr val="7D1816"/>
                </a:solidFill>
                <a:latin typeface="Arial Black"/>
                <a:cs typeface="Arial Black"/>
              </a:rPr>
              <a:t>	</a:t>
            </a:r>
            <a:r>
              <a:rPr sz="4950" spc="-470" dirty="0">
                <a:solidFill>
                  <a:srgbClr val="7D1816"/>
                </a:solidFill>
                <a:latin typeface="Arial Black"/>
                <a:cs typeface="Arial Black"/>
              </a:rPr>
              <a:t>Networks</a:t>
            </a:r>
            <a:endParaRPr sz="495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1980" y="1111993"/>
            <a:ext cx="17504410" cy="156464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4243070" marR="5080" indent="-4231005">
              <a:lnSpc>
                <a:spcPts val="6000"/>
              </a:lnSpc>
              <a:spcBef>
                <a:spcPts val="320"/>
              </a:spcBef>
            </a:pPr>
            <a:r>
              <a:rPr spc="-335" dirty="0"/>
              <a:t>An</a:t>
            </a:r>
            <a:r>
              <a:rPr spc="-320" dirty="0"/>
              <a:t> </a:t>
            </a:r>
            <a:r>
              <a:rPr spc="-325" dirty="0"/>
              <a:t>Analysis</a:t>
            </a:r>
            <a:r>
              <a:rPr spc="-320" dirty="0"/>
              <a:t> </a:t>
            </a:r>
            <a:r>
              <a:rPr spc="-300" dirty="0"/>
              <a:t>of</a:t>
            </a:r>
            <a:r>
              <a:rPr spc="-315" dirty="0"/>
              <a:t> </a:t>
            </a:r>
            <a:r>
              <a:rPr spc="-455" dirty="0"/>
              <a:t>the</a:t>
            </a:r>
            <a:r>
              <a:rPr spc="-320" dirty="0"/>
              <a:t> </a:t>
            </a:r>
            <a:r>
              <a:rPr spc="-330" dirty="0"/>
              <a:t>Binary</a:t>
            </a:r>
            <a:r>
              <a:rPr spc="-320" dirty="0"/>
              <a:t> </a:t>
            </a:r>
            <a:r>
              <a:rPr spc="-395" dirty="0"/>
              <a:t>Exponential</a:t>
            </a:r>
            <a:r>
              <a:rPr spc="-315" dirty="0"/>
              <a:t> </a:t>
            </a:r>
            <a:r>
              <a:rPr spc="-434" dirty="0"/>
              <a:t>Backoff</a:t>
            </a:r>
            <a:r>
              <a:rPr spc="-320" dirty="0"/>
              <a:t> </a:t>
            </a:r>
            <a:r>
              <a:rPr spc="-375" dirty="0"/>
              <a:t>Algorithm </a:t>
            </a:r>
            <a:r>
              <a:rPr spc="-310" dirty="0"/>
              <a:t>in</a:t>
            </a:r>
            <a:r>
              <a:rPr spc="-320" dirty="0"/>
              <a:t> </a:t>
            </a:r>
            <a:r>
              <a:rPr spc="-340" dirty="0"/>
              <a:t>Distributed</a:t>
            </a:r>
            <a:r>
              <a:rPr spc="-320" dirty="0"/>
              <a:t> </a:t>
            </a:r>
            <a:r>
              <a:rPr spc="-425" dirty="0"/>
              <a:t>MAC</a:t>
            </a:r>
            <a:r>
              <a:rPr spc="-320" dirty="0"/>
              <a:t> </a:t>
            </a:r>
            <a:r>
              <a:rPr spc="-365" dirty="0"/>
              <a:t>Protocols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3166109"/>
            <a:ext cx="142874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4992947"/>
            <a:ext cx="142874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1205" y="7070769"/>
            <a:ext cx="142874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27061" y="2644774"/>
            <a:ext cx="15137765" cy="6388100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0"/>
              </a:spcBef>
              <a:tabLst>
                <a:tab pos="4286250" algn="l"/>
              </a:tabLst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Application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Domain: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Wireless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LANs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40" dirty="0">
                <a:solidFill>
                  <a:srgbClr val="171A1B"/>
                </a:solidFill>
                <a:latin typeface="Microsoft Sans Serif"/>
                <a:cs typeface="Microsoft Sans Serif"/>
              </a:rPr>
              <a:t>(IEEE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802.11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DCF)</a:t>
            </a:r>
            <a:endParaRPr sz="3600">
              <a:latin typeface="Microsoft Sans Serif"/>
              <a:cs typeface="Microsoft Sans Serif"/>
            </a:endParaRPr>
          </a:p>
          <a:p>
            <a:pPr marL="4258310">
              <a:lnSpc>
                <a:spcPct val="100000"/>
              </a:lnSpc>
              <a:spcBef>
                <a:spcPts val="2130"/>
              </a:spcBef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Distributed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Medium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Access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Control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(MAC)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protocols</a:t>
            </a:r>
            <a:endParaRPr sz="3600">
              <a:latin typeface="Microsoft Sans Serif"/>
              <a:cs typeface="Microsoft Sans Serif"/>
            </a:endParaRPr>
          </a:p>
          <a:p>
            <a:pPr marL="4370070" marR="5080" indent="-4358005">
              <a:lnSpc>
                <a:spcPct val="149300"/>
              </a:lnSpc>
              <a:spcBef>
                <a:spcPts val="1485"/>
              </a:spcBef>
              <a:tabLst>
                <a:tab pos="4333240" algn="l"/>
              </a:tabLst>
            </a:pPr>
            <a:r>
              <a:rPr sz="3600" spc="-25" dirty="0">
                <a:solidFill>
                  <a:srgbClr val="171A1B"/>
                </a:solidFill>
                <a:latin typeface="Microsoft Sans Serif"/>
                <a:cs typeface="Microsoft Sans Serif"/>
              </a:rPr>
              <a:t>Real-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World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Context: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Multiple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wireless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nodes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compete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for</a:t>
            </a:r>
            <a:r>
              <a:rPr sz="3600" spc="-14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shared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Collisions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reduce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productivity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and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efficiency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803900" algn="l"/>
              </a:tabLst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Why</a:t>
            </a:r>
            <a:r>
              <a:rPr sz="3600" spc="-12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Uncertainty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is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Intrinsic: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Random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backoff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times</a:t>
            </a:r>
            <a:endParaRPr sz="3600">
              <a:latin typeface="Microsoft Sans Serif"/>
              <a:cs typeface="Microsoft Sans Serif"/>
            </a:endParaRPr>
          </a:p>
          <a:p>
            <a:pPr marL="5821045" marR="1717675">
              <a:lnSpc>
                <a:spcPct val="149300"/>
              </a:lnSpc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number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of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contending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nodes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collisions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and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idle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slots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Project</a:t>
            </a:r>
            <a:r>
              <a:rPr spc="-330" dirty="0"/>
              <a:t> </a:t>
            </a:r>
            <a:r>
              <a:rPr spc="-385" dirty="0"/>
              <a:t>Objective</a:t>
            </a:r>
            <a:r>
              <a:rPr spc="-325" dirty="0"/>
              <a:t> </a:t>
            </a:r>
            <a:r>
              <a:rPr spc="-340" dirty="0"/>
              <a:t>and</a:t>
            </a:r>
            <a:r>
              <a:rPr spc="-330" dirty="0"/>
              <a:t> </a:t>
            </a:r>
            <a:r>
              <a:rPr spc="-395" dirty="0"/>
              <a:t>Scope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1680" algn="ctr">
              <a:lnSpc>
                <a:spcPct val="100000"/>
              </a:lnSpc>
              <a:spcBef>
                <a:spcPts val="100"/>
              </a:spcBef>
            </a:pPr>
            <a:r>
              <a:rPr spc="-340" dirty="0"/>
              <a:t>Objective:</a:t>
            </a: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pc="-340" dirty="0"/>
          </a:p>
          <a:p>
            <a:pPr marL="12700" marR="5080">
              <a:lnSpc>
                <a:spcPct val="149300"/>
              </a:lnSpc>
            </a:pPr>
            <a:r>
              <a:rPr sz="3600" dirty="0">
                <a:latin typeface="Microsoft Sans Serif"/>
                <a:cs typeface="Microsoft Sans Serif"/>
              </a:rPr>
              <a:t>Develop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an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accurate</a:t>
            </a:r>
            <a:r>
              <a:rPr sz="3600" spc="-18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analytical </a:t>
            </a:r>
            <a:r>
              <a:rPr sz="3600" dirty="0">
                <a:latin typeface="Microsoft Sans Serif"/>
                <a:cs typeface="Microsoft Sans Serif"/>
              </a:rPr>
              <a:t>model</a:t>
            </a:r>
            <a:r>
              <a:rPr sz="3600" spc="-10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for</a:t>
            </a:r>
            <a:r>
              <a:rPr sz="3600" spc="-100" dirty="0">
                <a:latin typeface="Microsoft Sans Serif"/>
                <a:cs typeface="Microsoft Sans Serif"/>
              </a:rPr>
              <a:t> </a:t>
            </a:r>
            <a:r>
              <a:rPr sz="3600" spc="-20" dirty="0">
                <a:latin typeface="Microsoft Sans Serif"/>
                <a:cs typeface="Microsoft Sans Serif"/>
              </a:rPr>
              <a:t>BEBA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 marR="224154">
              <a:lnSpc>
                <a:spcPct val="149300"/>
              </a:lnSpc>
            </a:pPr>
            <a:r>
              <a:rPr sz="3600" dirty="0">
                <a:latin typeface="Microsoft Sans Serif"/>
                <a:cs typeface="Microsoft Sans Serif"/>
              </a:rPr>
              <a:t>Capture</a:t>
            </a:r>
            <a:r>
              <a:rPr sz="3600" spc="-21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behaviors</a:t>
            </a:r>
            <a:r>
              <a:rPr sz="3600" spc="-21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ignored</a:t>
            </a:r>
            <a:r>
              <a:rPr sz="3600" spc="-215" dirty="0">
                <a:latin typeface="Microsoft Sans Serif"/>
                <a:cs typeface="Microsoft Sans Serif"/>
              </a:rPr>
              <a:t> </a:t>
            </a:r>
            <a:r>
              <a:rPr sz="3600" spc="-25" dirty="0">
                <a:latin typeface="Microsoft Sans Serif"/>
                <a:cs typeface="Microsoft Sans Serif"/>
              </a:rPr>
              <a:t>by </a:t>
            </a:r>
            <a:r>
              <a:rPr sz="3600" dirty="0">
                <a:latin typeface="Microsoft Sans Serif"/>
                <a:cs typeface="Microsoft Sans Serif"/>
              </a:rPr>
              <a:t>traditional</a:t>
            </a:r>
            <a:r>
              <a:rPr sz="3600" spc="-24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models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71830">
              <a:lnSpc>
                <a:spcPct val="100000"/>
              </a:lnSpc>
              <a:spcBef>
                <a:spcPts val="100"/>
              </a:spcBef>
            </a:pPr>
            <a:r>
              <a:rPr spc="-330" dirty="0"/>
              <a:t>What</a:t>
            </a:r>
            <a:r>
              <a:rPr spc="-240" dirty="0"/>
              <a:t> is </a:t>
            </a:r>
            <a:r>
              <a:rPr spc="-254" dirty="0"/>
              <a:t>being</a:t>
            </a:r>
            <a:r>
              <a:rPr spc="-235" dirty="0"/>
              <a:t> </a:t>
            </a:r>
            <a:r>
              <a:rPr spc="-290" dirty="0"/>
              <a:t>analyzed:</a:t>
            </a:r>
          </a:p>
          <a:p>
            <a:pPr>
              <a:lnSpc>
                <a:spcPct val="100000"/>
              </a:lnSpc>
              <a:spcBef>
                <a:spcPts val="1035"/>
              </a:spcBef>
            </a:pPr>
            <a:endParaRPr spc="-290" dirty="0"/>
          </a:p>
          <a:p>
            <a:pPr marL="12700" marR="5080">
              <a:lnSpc>
                <a:spcPct val="149300"/>
              </a:lnSpc>
              <a:spcBef>
                <a:spcPts val="5"/>
              </a:spcBef>
            </a:pPr>
            <a:r>
              <a:rPr sz="3600" dirty="0">
                <a:latin typeface="Microsoft Sans Serif"/>
                <a:cs typeface="Microsoft Sans Serif"/>
              </a:rPr>
              <a:t>Channel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state</a:t>
            </a:r>
            <a:r>
              <a:rPr sz="3600" spc="-17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probabilities</a:t>
            </a:r>
            <a:r>
              <a:rPr sz="3600" spc="-17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(Idle, </a:t>
            </a:r>
            <a:r>
              <a:rPr sz="3600" dirty="0">
                <a:latin typeface="Microsoft Sans Serif"/>
                <a:cs typeface="Microsoft Sans Serif"/>
              </a:rPr>
              <a:t>Success,</a:t>
            </a:r>
            <a:r>
              <a:rPr sz="3600" spc="-90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Collision)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600" spc="-10" dirty="0">
                <a:latin typeface="Microsoft Sans Serif"/>
                <a:cs typeface="Microsoft Sans Serif"/>
              </a:rPr>
              <a:t>Throughput</a:t>
            </a:r>
            <a:r>
              <a:rPr sz="3600" spc="-165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performance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latin typeface="Microsoft Sans Serif"/>
                <a:cs typeface="Microsoft Sans Serif"/>
              </a:rPr>
              <a:t>Impact</a:t>
            </a:r>
            <a:r>
              <a:rPr sz="3600" spc="-120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of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dirty="0">
                <a:latin typeface="Microsoft Sans Serif"/>
                <a:cs typeface="Microsoft Sans Serif"/>
              </a:rPr>
              <a:t>backoff</a:t>
            </a:r>
            <a:r>
              <a:rPr sz="3600" spc="-114" dirty="0">
                <a:latin typeface="Microsoft Sans Serif"/>
                <a:cs typeface="Microsoft Sans Serif"/>
              </a:rPr>
              <a:t> </a:t>
            </a:r>
            <a:r>
              <a:rPr sz="3600" spc="-10" dirty="0">
                <a:latin typeface="Microsoft Sans Serif"/>
                <a:cs typeface="Microsoft Sans Serif"/>
              </a:rPr>
              <a:t>randomness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43272" y="595724"/>
            <a:ext cx="780923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5" dirty="0"/>
              <a:t>Project</a:t>
            </a:r>
            <a:r>
              <a:rPr spc="-325" dirty="0"/>
              <a:t> </a:t>
            </a:r>
            <a:r>
              <a:rPr spc="-415" dirty="0"/>
              <a:t>System</a:t>
            </a:r>
            <a:r>
              <a:rPr spc="-320" dirty="0"/>
              <a:t> </a:t>
            </a:r>
            <a:r>
              <a:rPr spc="-434" dirty="0"/>
              <a:t>Overview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4448" y="1998296"/>
            <a:ext cx="142874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4448" y="4581777"/>
            <a:ext cx="142874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692" y="8280061"/>
            <a:ext cx="142874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03548" y="1476961"/>
            <a:ext cx="16378555" cy="7126605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439420">
              <a:lnSpc>
                <a:spcPct val="100000"/>
              </a:lnSpc>
              <a:spcBef>
                <a:spcPts val="2230"/>
              </a:spcBef>
              <a:tabLst>
                <a:tab pos="4822825" algn="l"/>
              </a:tabLst>
            </a:pPr>
            <a:r>
              <a:rPr sz="3600" spc="-25" dirty="0">
                <a:solidFill>
                  <a:srgbClr val="171A1B"/>
                </a:solidFill>
                <a:latin typeface="Microsoft Sans Serif"/>
                <a:cs typeface="Microsoft Sans Serif"/>
              </a:rPr>
              <a:t>End-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to-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End</a:t>
            </a:r>
            <a:r>
              <a:rPr sz="3600" spc="-10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Pipeline: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Stations</a:t>
            </a:r>
            <a:r>
              <a:rPr sz="3600" spc="-21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generate</a:t>
            </a:r>
            <a:r>
              <a:rPr sz="3600" spc="-21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21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backoff</a:t>
            </a:r>
            <a:endParaRPr sz="3600">
              <a:latin typeface="Microsoft Sans Serif"/>
              <a:cs typeface="Microsoft Sans Serif"/>
            </a:endParaRPr>
          </a:p>
          <a:p>
            <a:pPr marL="4796790" marR="5158105">
              <a:lnSpc>
                <a:spcPct val="149300"/>
              </a:lnSpc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</a:t>
            </a:r>
            <a:r>
              <a:rPr sz="3600" spc="-18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contention</a:t>
            </a:r>
            <a:r>
              <a:rPr sz="3600" spc="-1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occurs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</a:t>
            </a:r>
            <a:r>
              <a:rPr sz="3600" spc="-18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state</a:t>
            </a:r>
            <a:r>
              <a:rPr sz="3600" spc="-1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evolves</a:t>
            </a:r>
            <a:r>
              <a:rPr sz="3600" spc="-1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over</a:t>
            </a:r>
            <a:r>
              <a:rPr sz="3600" spc="-1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time</a:t>
            </a:r>
            <a:endParaRPr sz="3600">
              <a:latin typeface="Microsoft Sans Serif"/>
              <a:cs typeface="Microsoft Sans Serif"/>
            </a:endParaRPr>
          </a:p>
          <a:p>
            <a:pPr marL="439420">
              <a:lnSpc>
                <a:spcPct val="100000"/>
              </a:lnSpc>
              <a:spcBef>
                <a:spcPts val="3120"/>
              </a:spcBef>
              <a:tabLst>
                <a:tab pos="4638675" algn="l"/>
              </a:tabLst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Major</a:t>
            </a:r>
            <a:r>
              <a:rPr sz="3600" spc="-17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Components: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Backoff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mechanism</a:t>
            </a:r>
            <a:endParaRPr sz="3600">
              <a:latin typeface="Microsoft Sans Serif"/>
              <a:cs typeface="Microsoft Sans Serif"/>
            </a:endParaRPr>
          </a:p>
          <a:p>
            <a:pPr marL="4573270" marR="6823075">
              <a:lnSpc>
                <a:spcPct val="149300"/>
              </a:lnSpc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</a:t>
            </a:r>
            <a:r>
              <a:rPr sz="3600" spc="-19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state</a:t>
            </a:r>
            <a:r>
              <a:rPr sz="3600" spc="-18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transitions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Markov</a:t>
            </a:r>
            <a:r>
              <a:rPr sz="3600" spc="-12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chain</a:t>
            </a:r>
            <a:r>
              <a:rPr sz="3600" spc="-12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model</a:t>
            </a:r>
            <a:endParaRPr sz="3600">
              <a:latin typeface="Microsoft Sans Serif"/>
              <a:cs typeface="Microsoft Sans Serif"/>
            </a:endParaRPr>
          </a:p>
          <a:p>
            <a:pPr marL="4573270">
              <a:lnSpc>
                <a:spcPct val="100000"/>
              </a:lnSpc>
              <a:spcBef>
                <a:spcPts val="2130"/>
              </a:spcBef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Throughput</a:t>
            </a:r>
            <a:r>
              <a:rPr sz="3600" spc="-16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computation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2392680" algn="l"/>
              </a:tabLst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Data</a:t>
            </a:r>
            <a:r>
              <a:rPr sz="3600" spc="-16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Flow: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Backoff</a:t>
            </a:r>
            <a:r>
              <a:rPr sz="3600" spc="-229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choice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900" dirty="0">
                <a:solidFill>
                  <a:srgbClr val="171A1B"/>
                </a:solidFill>
                <a:latin typeface="Microsoft Sans Serif"/>
                <a:cs typeface="Microsoft Sans Serif"/>
              </a:rPr>
              <a:t>→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Slot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access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900" dirty="0">
                <a:solidFill>
                  <a:srgbClr val="171A1B"/>
                </a:solidFill>
                <a:latin typeface="Microsoft Sans Serif"/>
                <a:cs typeface="Microsoft Sans Serif"/>
              </a:rPr>
              <a:t>→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state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900" dirty="0">
                <a:solidFill>
                  <a:srgbClr val="171A1B"/>
                </a:solidFill>
                <a:latin typeface="Microsoft Sans Serif"/>
                <a:cs typeface="Microsoft Sans Serif"/>
              </a:rPr>
              <a:t>→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Performance</a:t>
            </a:r>
            <a:r>
              <a:rPr sz="3600" spc="-12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metrics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86670" y="546107"/>
            <a:ext cx="114458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60" dirty="0"/>
              <a:t>Sources</a:t>
            </a:r>
            <a:r>
              <a:rPr spc="-325" dirty="0"/>
              <a:t> </a:t>
            </a:r>
            <a:r>
              <a:rPr spc="-300" dirty="0"/>
              <a:t>of</a:t>
            </a:r>
            <a:r>
              <a:rPr spc="-320" dirty="0"/>
              <a:t> </a:t>
            </a:r>
            <a:r>
              <a:rPr spc="-420" dirty="0"/>
              <a:t>Uncertainty</a:t>
            </a:r>
            <a:r>
              <a:rPr spc="-320" dirty="0"/>
              <a:t> </a:t>
            </a:r>
            <a:r>
              <a:rPr spc="-310" dirty="0"/>
              <a:t>in</a:t>
            </a:r>
            <a:r>
              <a:rPr spc="-320" dirty="0"/>
              <a:t> </a:t>
            </a:r>
            <a:r>
              <a:rPr spc="-455" dirty="0"/>
              <a:t>the</a:t>
            </a:r>
            <a:r>
              <a:rPr spc="-325" dirty="0"/>
              <a:t> </a:t>
            </a:r>
            <a:r>
              <a:rPr spc="-415" dirty="0"/>
              <a:t>Project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089" y="2346959"/>
            <a:ext cx="142874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089" y="4442602"/>
            <a:ext cx="142874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089" y="6488929"/>
            <a:ext cx="142874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927945" y="1825624"/>
            <a:ext cx="14518005" cy="5805805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30"/>
              </a:spcBef>
              <a:tabLst>
                <a:tab pos="4432935" algn="l"/>
              </a:tabLst>
            </a:pP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Measurement</a:t>
            </a:r>
            <a:r>
              <a:rPr sz="3600" spc="-20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Noise: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Random</a:t>
            </a:r>
            <a:r>
              <a:rPr sz="3600" spc="-1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slot</a:t>
            </a:r>
            <a:r>
              <a:rPr sz="3600" spc="-17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outcomes</a:t>
            </a:r>
            <a:endParaRPr sz="3600">
              <a:latin typeface="Microsoft Sans Serif"/>
              <a:cs typeface="Microsoft Sans Serif"/>
            </a:endParaRPr>
          </a:p>
          <a:p>
            <a:pPr marR="383540" algn="ctr">
              <a:lnSpc>
                <a:spcPct val="100000"/>
              </a:lnSpc>
              <a:spcBef>
                <a:spcPts val="2130"/>
              </a:spcBef>
            </a:pP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Variable</a:t>
            </a:r>
            <a:r>
              <a:rPr sz="3600" spc="-20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collision</a:t>
            </a:r>
            <a:r>
              <a:rPr sz="3600" spc="-19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duration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3600" spc="-30" dirty="0">
                <a:solidFill>
                  <a:srgbClr val="171A1B"/>
                </a:solidFill>
                <a:latin typeface="Microsoft Sans Serif"/>
                <a:cs typeface="Microsoft Sans Serif"/>
              </a:rPr>
              <a:t>Environmental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/</a:t>
            </a:r>
            <a:r>
              <a:rPr sz="3600" spc="-13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Contextual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Variability:</a:t>
            </a:r>
            <a:r>
              <a:rPr sz="3600" spc="-13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Number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of</a:t>
            </a:r>
            <a:r>
              <a:rPr sz="3600" spc="-13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contending</a:t>
            </a:r>
            <a:r>
              <a:rPr sz="3600" spc="-13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stations</a:t>
            </a:r>
            <a:endParaRPr sz="3600">
              <a:latin typeface="Microsoft Sans Serif"/>
              <a:cs typeface="Microsoft Sans Serif"/>
            </a:endParaRPr>
          </a:p>
          <a:p>
            <a:pPr marL="7718425">
              <a:lnSpc>
                <a:spcPct val="100000"/>
              </a:lnSpc>
              <a:spcBef>
                <a:spcPts val="2130"/>
              </a:spcBef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Dynamic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contention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window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sizes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265"/>
              </a:spcBef>
            </a:pPr>
            <a:endParaRPr sz="3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950585" algn="l"/>
              </a:tabLst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Modeling</a:t>
            </a:r>
            <a:r>
              <a:rPr sz="3600" spc="-11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/</a:t>
            </a:r>
            <a:r>
              <a:rPr sz="3600" spc="-10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Data</a:t>
            </a:r>
            <a:r>
              <a:rPr sz="3600" spc="-10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Uncertainty: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	Random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backoff</a:t>
            </a:r>
            <a:r>
              <a:rPr sz="3600" spc="-15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time</a:t>
            </a:r>
            <a:r>
              <a:rPr sz="3600" spc="-14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distribution</a:t>
            </a:r>
            <a:endParaRPr sz="3600">
              <a:latin typeface="Microsoft Sans Serif"/>
              <a:cs typeface="Microsoft Sans Serif"/>
            </a:endParaRPr>
          </a:p>
          <a:p>
            <a:pPr marL="5932170">
              <a:lnSpc>
                <a:spcPct val="100000"/>
              </a:lnSpc>
              <a:spcBef>
                <a:spcPts val="2130"/>
              </a:spcBef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Dependency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between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consecutive</a:t>
            </a:r>
            <a:r>
              <a:rPr sz="3600" spc="-8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slots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219" y="9058417"/>
            <a:ext cx="2048732" cy="89849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70" dirty="0"/>
              <a:t>Key</a:t>
            </a:r>
            <a:r>
              <a:rPr spc="-320" dirty="0"/>
              <a:t> </a:t>
            </a:r>
            <a:r>
              <a:rPr spc="-380" dirty="0"/>
              <a:t>Random</a:t>
            </a:r>
            <a:r>
              <a:rPr spc="-320" dirty="0"/>
              <a:t> </a:t>
            </a:r>
            <a:r>
              <a:rPr spc="-385" dirty="0"/>
              <a:t>Variables</a:t>
            </a:r>
            <a:r>
              <a:rPr spc="-315" dirty="0"/>
              <a:t> </a:t>
            </a:r>
            <a:r>
              <a:rPr spc="-340" dirty="0"/>
              <a:t>and</a:t>
            </a:r>
            <a:r>
              <a:rPr spc="-320" dirty="0"/>
              <a:t> </a:t>
            </a:r>
            <a:r>
              <a:rPr spc="-380" dirty="0"/>
              <a:t>Their</a:t>
            </a:r>
            <a:r>
              <a:rPr spc="-315" dirty="0"/>
              <a:t> </a:t>
            </a:r>
            <a:r>
              <a:rPr spc="-355" dirty="0"/>
              <a:t>Roles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692" y="2209800"/>
            <a:ext cx="142874" cy="1428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3548" y="1958975"/>
            <a:ext cx="5545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>
                <a:solidFill>
                  <a:srgbClr val="171A1B"/>
                </a:solidFill>
                <a:latin typeface="Microsoft Sans Serif"/>
                <a:cs typeface="Microsoft Sans Serif"/>
              </a:rPr>
              <a:t>Primary</a:t>
            </a:r>
            <a:r>
              <a:rPr sz="3600" spc="-20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Random</a:t>
            </a:r>
            <a:r>
              <a:rPr sz="3600" spc="-20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Variables: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86612" y="1688464"/>
            <a:ext cx="4182745" cy="2482850"/>
          </a:xfrm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83820">
              <a:lnSpc>
                <a:spcPct val="100000"/>
              </a:lnSpc>
              <a:spcBef>
                <a:spcPts val="2230"/>
              </a:spcBef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Backoff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time</a:t>
            </a:r>
            <a:r>
              <a:rPr sz="3600" spc="-114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50" dirty="0">
                <a:solidFill>
                  <a:srgbClr val="171A1B"/>
                </a:solidFill>
                <a:latin typeface="Microsoft Sans Serif"/>
                <a:cs typeface="Microsoft Sans Serif"/>
              </a:rPr>
              <a:t>r</a:t>
            </a:r>
            <a:endParaRPr sz="3600">
              <a:latin typeface="Microsoft Sans Serif"/>
              <a:cs typeface="Microsoft Sans Serif"/>
            </a:endParaRPr>
          </a:p>
          <a:p>
            <a:pPr marL="38100" marR="30480">
              <a:lnSpc>
                <a:spcPct val="149300"/>
              </a:lnSpc>
            </a:pP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Attempt</a:t>
            </a:r>
            <a:r>
              <a:rPr sz="3600" spc="-11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10" dirty="0">
                <a:solidFill>
                  <a:srgbClr val="171A1B"/>
                </a:solidFill>
                <a:latin typeface="Microsoft Sans Serif"/>
                <a:cs typeface="Microsoft Sans Serif"/>
              </a:rPr>
              <a:t>probability</a:t>
            </a:r>
            <a:r>
              <a:rPr sz="3600" spc="-10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50" dirty="0">
                <a:solidFill>
                  <a:srgbClr val="171A1B"/>
                </a:solidFill>
                <a:latin typeface="Microsoft Sans Serif"/>
                <a:cs typeface="Microsoft Sans Serif"/>
              </a:rPr>
              <a:t>τ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Channel</a:t>
            </a:r>
            <a:r>
              <a:rPr sz="3600" spc="-190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dirty="0">
                <a:solidFill>
                  <a:srgbClr val="171A1B"/>
                </a:solidFill>
                <a:latin typeface="Microsoft Sans Serif"/>
                <a:cs typeface="Microsoft Sans Serif"/>
              </a:rPr>
              <a:t>state</a:t>
            </a:r>
            <a:r>
              <a:rPr sz="3600" spc="-185" dirty="0">
                <a:solidFill>
                  <a:srgbClr val="171A1B"/>
                </a:solidFill>
                <a:latin typeface="Microsoft Sans Serif"/>
                <a:cs typeface="Microsoft Sans Serif"/>
              </a:rPr>
              <a:t> </a:t>
            </a:r>
            <a:r>
              <a:rPr sz="3600" spc="-25" dirty="0">
                <a:solidFill>
                  <a:srgbClr val="171A1B"/>
                </a:solidFill>
                <a:latin typeface="Microsoft Sans Serif"/>
                <a:cs typeface="Microsoft Sans Serif"/>
              </a:rPr>
              <a:t>B</a:t>
            </a:r>
            <a:r>
              <a:rPr sz="3225" spc="-37" baseline="-14211" dirty="0">
                <a:solidFill>
                  <a:srgbClr val="171A1B"/>
                </a:solidFill>
                <a:latin typeface="Microsoft Sans Serif"/>
                <a:cs typeface="Microsoft Sans Serif"/>
              </a:rPr>
              <a:t>k</a:t>
            </a:r>
            <a:endParaRPr sz="3225" baseline="-14211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7692" y="5349239"/>
            <a:ext cx="142874" cy="14287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32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30"/>
              </a:spcBef>
            </a:pPr>
            <a:r>
              <a:rPr dirty="0"/>
              <a:t>What</a:t>
            </a:r>
            <a:r>
              <a:rPr spc="-160" dirty="0"/>
              <a:t> </a:t>
            </a:r>
            <a:r>
              <a:rPr dirty="0"/>
              <a:t>they</a:t>
            </a:r>
            <a:r>
              <a:rPr spc="-155" dirty="0"/>
              <a:t> </a:t>
            </a:r>
            <a:r>
              <a:rPr spc="-10" dirty="0"/>
              <a:t>represent:</a:t>
            </a:r>
          </a:p>
          <a:p>
            <a:pPr marL="4382770">
              <a:lnSpc>
                <a:spcPct val="100000"/>
              </a:lnSpc>
              <a:spcBef>
                <a:spcPts val="2130"/>
              </a:spcBef>
            </a:pPr>
            <a:r>
              <a:rPr dirty="0"/>
              <a:t>r:</a:t>
            </a:r>
            <a:r>
              <a:rPr spc="-150" dirty="0"/>
              <a:t> </a:t>
            </a:r>
            <a:r>
              <a:rPr dirty="0"/>
              <a:t>Number</a:t>
            </a:r>
            <a:r>
              <a:rPr spc="-145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dirty="0"/>
              <a:t>slots</a:t>
            </a:r>
            <a:r>
              <a:rPr spc="-145" dirty="0"/>
              <a:t> </a:t>
            </a:r>
            <a:r>
              <a:rPr dirty="0"/>
              <a:t>a</a:t>
            </a:r>
            <a:r>
              <a:rPr spc="-145" dirty="0"/>
              <a:t> </a:t>
            </a:r>
            <a:r>
              <a:rPr dirty="0"/>
              <a:t>station</a:t>
            </a:r>
            <a:r>
              <a:rPr spc="-145" dirty="0"/>
              <a:t> </a:t>
            </a:r>
            <a:r>
              <a:rPr spc="-10" dirty="0"/>
              <a:t>waits</a:t>
            </a:r>
          </a:p>
          <a:p>
            <a:pPr marL="4382770" marR="43180">
              <a:lnSpc>
                <a:spcPct val="149300"/>
              </a:lnSpc>
            </a:pPr>
            <a:r>
              <a:rPr dirty="0"/>
              <a:t>τ:</a:t>
            </a:r>
            <a:r>
              <a:rPr spc="-170" dirty="0"/>
              <a:t> </a:t>
            </a:r>
            <a:r>
              <a:rPr spc="-10" dirty="0"/>
              <a:t>Probability</a:t>
            </a:r>
            <a:r>
              <a:rPr spc="-165" dirty="0"/>
              <a:t> </a:t>
            </a:r>
            <a:r>
              <a:rPr dirty="0"/>
              <a:t>a</a:t>
            </a:r>
            <a:r>
              <a:rPr spc="-165" dirty="0"/>
              <a:t> </a:t>
            </a:r>
            <a:r>
              <a:rPr dirty="0"/>
              <a:t>station</a:t>
            </a:r>
            <a:r>
              <a:rPr spc="-165" dirty="0"/>
              <a:t> </a:t>
            </a:r>
            <a:r>
              <a:rPr dirty="0"/>
              <a:t>attempts</a:t>
            </a:r>
            <a:r>
              <a:rPr spc="-165" dirty="0"/>
              <a:t> </a:t>
            </a:r>
            <a:r>
              <a:rPr spc="-10" dirty="0"/>
              <a:t>transmission </a:t>
            </a:r>
            <a:r>
              <a:rPr dirty="0"/>
              <a:t>B</a:t>
            </a:r>
            <a:r>
              <a:rPr sz="3225" baseline="-14211" dirty="0"/>
              <a:t>k</a:t>
            </a:r>
            <a:r>
              <a:rPr sz="3600" dirty="0"/>
              <a:t>:</a:t>
            </a:r>
            <a:r>
              <a:rPr sz="3600" spc="-140" dirty="0"/>
              <a:t> </a:t>
            </a:r>
            <a:r>
              <a:rPr sz="3600" dirty="0"/>
              <a:t>Number</a:t>
            </a:r>
            <a:r>
              <a:rPr sz="3600" spc="-140" dirty="0"/>
              <a:t> </a:t>
            </a:r>
            <a:r>
              <a:rPr sz="3600" dirty="0"/>
              <a:t>of</a:t>
            </a:r>
            <a:r>
              <a:rPr sz="3600" spc="-140" dirty="0"/>
              <a:t> </a:t>
            </a:r>
            <a:r>
              <a:rPr sz="3600" dirty="0"/>
              <a:t>stations</a:t>
            </a:r>
            <a:r>
              <a:rPr sz="3600" spc="-140" dirty="0"/>
              <a:t> </a:t>
            </a:r>
            <a:r>
              <a:rPr sz="3600" spc="-10" dirty="0"/>
              <a:t>transmitting</a:t>
            </a:r>
            <a:r>
              <a:rPr sz="3600" spc="-140" dirty="0"/>
              <a:t> </a:t>
            </a:r>
            <a:r>
              <a:rPr sz="3600" dirty="0"/>
              <a:t>in</a:t>
            </a:r>
            <a:r>
              <a:rPr sz="3600" spc="-140" dirty="0"/>
              <a:t> </a:t>
            </a:r>
            <a:r>
              <a:rPr sz="3600" dirty="0"/>
              <a:t>a</a:t>
            </a:r>
            <a:r>
              <a:rPr sz="3600" spc="-140" dirty="0"/>
              <a:t> </a:t>
            </a:r>
            <a:r>
              <a:rPr sz="3600" spc="-20" dirty="0"/>
              <a:t>slot</a:t>
            </a:r>
            <a:endParaRPr sz="3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1059" y="617216"/>
            <a:ext cx="19378073" cy="1286627"/>
          </a:xfrm>
          <a:prstGeom prst="rect">
            <a:avLst/>
          </a:prstGeom>
        </p:spPr>
        <p:txBody>
          <a:bodyPr vert="horz" wrap="square" lIns="0" tIns="49694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spc="-56" dirty="0"/>
              <a:t>Probabilistic</a:t>
            </a:r>
            <a:r>
              <a:rPr spc="-295" dirty="0"/>
              <a:t> </a:t>
            </a:r>
            <a:r>
              <a:rPr spc="-64" dirty="0"/>
              <a:t>Reasoning</a:t>
            </a:r>
            <a:r>
              <a:rPr spc="-287" dirty="0"/>
              <a:t> </a:t>
            </a:r>
            <a:r>
              <a:rPr spc="-64" dirty="0"/>
              <a:t>and</a:t>
            </a:r>
            <a:r>
              <a:rPr spc="-287" dirty="0"/>
              <a:t> </a:t>
            </a:r>
            <a:r>
              <a:rPr spc="-64" dirty="0"/>
              <a:t>Inference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0006" y="2723774"/>
            <a:ext cx="5248904" cy="2888030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latin typeface="Tahoma"/>
                <a:cs typeface="Tahoma"/>
              </a:rPr>
              <a:t>Uncertainty</a:t>
            </a:r>
            <a:r>
              <a:rPr sz="2634" b="1" spc="-112" dirty="0">
                <a:latin typeface="Tahoma"/>
                <a:cs typeface="Tahoma"/>
              </a:rPr>
              <a:t> </a:t>
            </a:r>
            <a:r>
              <a:rPr sz="2634" b="1" spc="-16" dirty="0">
                <a:latin typeface="Tahoma"/>
                <a:cs typeface="Tahoma"/>
              </a:rPr>
              <a:t>Propagation</a:t>
            </a:r>
            <a:endParaRPr sz="2634">
              <a:latin typeface="Tahoma"/>
              <a:cs typeface="Tahoma"/>
            </a:endParaRPr>
          </a:p>
          <a:p>
            <a:pPr marL="20270" marR="8108">
              <a:lnSpc>
                <a:spcPct val="132700"/>
              </a:lnSpc>
              <a:spcBef>
                <a:spcPts val="1859"/>
              </a:spcBef>
            </a:pP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Random</a:t>
            </a:r>
            <a:r>
              <a:rPr sz="2155" spc="-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r>
              <a:rPr sz="2155" spc="-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36" dirty="0">
                <a:solidFill>
                  <a:srgbClr val="171A1B"/>
                </a:solidFill>
                <a:latin typeface="Tahoma"/>
                <a:cs typeface="Tahoma"/>
              </a:rPr>
              <a:t>choices</a:t>
            </a:r>
            <a:r>
              <a:rPr sz="2155" spc="-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determine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transmission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attempts.</a:t>
            </a:r>
            <a:r>
              <a:rPr sz="2155" spc="16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Collisions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double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the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r>
              <a:rPr sz="2155" spc="12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window,</a:t>
            </a:r>
            <a:r>
              <a:rPr sz="2155" spc="12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increasing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randomness</a:t>
            </a:r>
            <a:r>
              <a:rPr sz="2155" spc="-6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-6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affecting</a:t>
            </a:r>
            <a:r>
              <a:rPr sz="2155" spc="-6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future</a:t>
            </a:r>
            <a:endParaRPr sz="2155">
              <a:latin typeface="Tahoma"/>
              <a:cs typeface="Tahoma"/>
            </a:endParaRPr>
          </a:p>
          <a:p>
            <a:pPr marL="20270">
              <a:spcBef>
                <a:spcPts val="886"/>
              </a:spcBef>
            </a:pP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attempts.</a:t>
            </a:r>
            <a:endParaRPr sz="2155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007" y="5901089"/>
            <a:ext cx="5072555" cy="2856419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latin typeface="Tahoma"/>
                <a:cs typeface="Tahoma"/>
              </a:rPr>
              <a:t>Reasoning</a:t>
            </a:r>
            <a:r>
              <a:rPr sz="2634" b="1" spc="-160" dirty="0">
                <a:latin typeface="Tahoma"/>
                <a:cs typeface="Tahoma"/>
              </a:rPr>
              <a:t> </a:t>
            </a:r>
            <a:r>
              <a:rPr sz="2634" b="1" spc="-16" dirty="0">
                <a:latin typeface="Tahoma"/>
                <a:cs typeface="Tahoma"/>
              </a:rPr>
              <a:t>Support</a:t>
            </a:r>
            <a:endParaRPr sz="2634">
              <a:latin typeface="Tahoma"/>
              <a:cs typeface="Tahoma"/>
            </a:endParaRPr>
          </a:p>
          <a:p>
            <a:pPr marL="20270" marR="8108">
              <a:lnSpc>
                <a:spcPct val="133100"/>
              </a:lnSpc>
              <a:spcBef>
                <a:spcPts val="1732"/>
              </a:spcBef>
            </a:pP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Modeling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r>
              <a:rPr sz="2155" spc="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20" dirty="0">
                <a:solidFill>
                  <a:srgbClr val="171A1B"/>
                </a:solidFill>
                <a:latin typeface="Tahoma"/>
                <a:cs typeface="Tahoma"/>
              </a:rPr>
              <a:t>as</a:t>
            </a:r>
            <a:r>
              <a:rPr sz="2155" spc="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a</a:t>
            </a:r>
            <a:r>
              <a:rPr sz="2155" spc="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random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variable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allows</a:t>
            </a:r>
            <a:r>
              <a:rPr sz="2155" spc="14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estimating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collision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probability, </a:t>
            </a:r>
            <a:r>
              <a:rPr sz="2155" spc="128" dirty="0">
                <a:solidFill>
                  <a:srgbClr val="171A1B"/>
                </a:solidFill>
                <a:latin typeface="Tahoma"/>
                <a:cs typeface="Tahoma"/>
              </a:rPr>
              <a:t>successful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transmission,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expected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delay,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inferring</a:t>
            </a:r>
            <a:r>
              <a:rPr sz="2155" spc="20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network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behavior</a:t>
            </a:r>
            <a:r>
              <a:rPr sz="2155" spc="20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32" dirty="0">
                <a:solidFill>
                  <a:srgbClr val="171A1B"/>
                </a:solidFill>
                <a:latin typeface="Tahoma"/>
                <a:cs typeface="Tahoma"/>
              </a:rPr>
              <a:t>like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throughput</a:t>
            </a:r>
            <a:r>
              <a:rPr sz="2155" spc="223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231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stability.</a:t>
            </a:r>
            <a:endParaRPr sz="2155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139373" y="3726562"/>
            <a:ext cx="9979910" cy="4084395"/>
          </a:xfrm>
          <a:custGeom>
            <a:avLst/>
            <a:gdLst/>
            <a:ahLst/>
            <a:cxnLst/>
            <a:rect l="l" t="t" r="r" b="b"/>
            <a:pathLst>
              <a:path w="6252845" h="2559050">
                <a:moveTo>
                  <a:pt x="2414113" y="2558726"/>
                </a:moveTo>
                <a:lnTo>
                  <a:pt x="1408232" y="2554093"/>
                </a:lnTo>
                <a:lnTo>
                  <a:pt x="1365613" y="2547037"/>
                </a:lnTo>
                <a:lnTo>
                  <a:pt x="1328627" y="2527759"/>
                </a:lnTo>
                <a:lnTo>
                  <a:pt x="1299478" y="2498474"/>
                </a:lnTo>
                <a:lnTo>
                  <a:pt x="1280372" y="2461396"/>
                </a:lnTo>
                <a:lnTo>
                  <a:pt x="1273513" y="2418742"/>
                </a:lnTo>
                <a:lnTo>
                  <a:pt x="1273513" y="1318578"/>
                </a:lnTo>
                <a:lnTo>
                  <a:pt x="1214894" y="1259959"/>
                </a:lnTo>
                <a:lnTo>
                  <a:pt x="1214894" y="1254119"/>
                </a:lnTo>
                <a:lnTo>
                  <a:pt x="1222104" y="1246910"/>
                </a:lnTo>
                <a:lnTo>
                  <a:pt x="1227944" y="1246910"/>
                </a:lnTo>
                <a:lnTo>
                  <a:pt x="1273513" y="1292479"/>
                </a:lnTo>
                <a:lnTo>
                  <a:pt x="1273513" y="135347"/>
                </a:lnTo>
                <a:lnTo>
                  <a:pt x="1264811" y="92242"/>
                </a:lnTo>
                <a:lnTo>
                  <a:pt x="1241079" y="57043"/>
                </a:lnTo>
                <a:lnTo>
                  <a:pt x="1205879" y="33310"/>
                </a:lnTo>
                <a:lnTo>
                  <a:pt x="1162772" y="24608"/>
                </a:lnTo>
                <a:lnTo>
                  <a:pt x="188667" y="24608"/>
                </a:lnTo>
                <a:lnTo>
                  <a:pt x="145563" y="33310"/>
                </a:lnTo>
                <a:lnTo>
                  <a:pt x="110363" y="57043"/>
                </a:lnTo>
                <a:lnTo>
                  <a:pt x="86631" y="92242"/>
                </a:lnTo>
                <a:lnTo>
                  <a:pt x="77929" y="135347"/>
                </a:lnTo>
                <a:lnTo>
                  <a:pt x="77929" y="1224413"/>
                </a:lnTo>
                <a:lnTo>
                  <a:pt x="99068" y="1232412"/>
                </a:lnTo>
                <a:lnTo>
                  <a:pt x="115974" y="1246793"/>
                </a:lnTo>
                <a:lnTo>
                  <a:pt x="127187" y="1266099"/>
                </a:lnTo>
                <a:lnTo>
                  <a:pt x="131249" y="1288878"/>
                </a:lnTo>
                <a:lnTo>
                  <a:pt x="126092" y="1314420"/>
                </a:lnTo>
                <a:lnTo>
                  <a:pt x="112028" y="1335278"/>
                </a:lnTo>
                <a:lnTo>
                  <a:pt x="91168" y="1349342"/>
                </a:lnTo>
                <a:lnTo>
                  <a:pt x="65625" y="1354499"/>
                </a:lnTo>
                <a:lnTo>
                  <a:pt x="40081" y="1349342"/>
                </a:lnTo>
                <a:lnTo>
                  <a:pt x="19221" y="1335278"/>
                </a:lnTo>
                <a:lnTo>
                  <a:pt x="5157" y="1314420"/>
                </a:lnTo>
                <a:lnTo>
                  <a:pt x="0" y="1288878"/>
                </a:lnTo>
                <a:lnTo>
                  <a:pt x="4061" y="1266099"/>
                </a:lnTo>
                <a:lnTo>
                  <a:pt x="15275" y="1246793"/>
                </a:lnTo>
                <a:lnTo>
                  <a:pt x="32181" y="1232412"/>
                </a:lnTo>
                <a:lnTo>
                  <a:pt x="53320" y="1224413"/>
                </a:lnTo>
                <a:lnTo>
                  <a:pt x="53320" y="135347"/>
                </a:lnTo>
                <a:lnTo>
                  <a:pt x="60220" y="92566"/>
                </a:lnTo>
                <a:lnTo>
                  <a:pt x="79434" y="55412"/>
                </a:lnTo>
                <a:lnTo>
                  <a:pt x="108733" y="26114"/>
                </a:lnTo>
                <a:lnTo>
                  <a:pt x="145887" y="6900"/>
                </a:lnTo>
                <a:lnTo>
                  <a:pt x="188667" y="0"/>
                </a:lnTo>
                <a:lnTo>
                  <a:pt x="1162772" y="0"/>
                </a:lnTo>
                <a:lnTo>
                  <a:pt x="1205553" y="6900"/>
                </a:lnTo>
                <a:lnTo>
                  <a:pt x="1242708" y="26114"/>
                </a:lnTo>
                <a:lnTo>
                  <a:pt x="1272008" y="55412"/>
                </a:lnTo>
                <a:lnTo>
                  <a:pt x="1291223" y="92566"/>
                </a:lnTo>
                <a:lnTo>
                  <a:pt x="1298123" y="135347"/>
                </a:lnTo>
                <a:lnTo>
                  <a:pt x="1298123" y="1288346"/>
                </a:lnTo>
                <a:lnTo>
                  <a:pt x="1339560" y="1246910"/>
                </a:lnTo>
                <a:lnTo>
                  <a:pt x="1345400" y="1246910"/>
                </a:lnTo>
                <a:lnTo>
                  <a:pt x="1352609" y="1254119"/>
                </a:lnTo>
                <a:lnTo>
                  <a:pt x="1352609" y="1259959"/>
                </a:lnTo>
                <a:lnTo>
                  <a:pt x="1298123" y="1314445"/>
                </a:lnTo>
                <a:lnTo>
                  <a:pt x="1298123" y="2418742"/>
                </a:lnTo>
                <a:lnTo>
                  <a:pt x="1306773" y="2461725"/>
                </a:lnTo>
                <a:lnTo>
                  <a:pt x="1330376" y="2496868"/>
                </a:lnTo>
                <a:lnTo>
                  <a:pt x="1365409" y="2520634"/>
                </a:lnTo>
                <a:lnTo>
                  <a:pt x="1408351" y="2529483"/>
                </a:lnTo>
                <a:lnTo>
                  <a:pt x="2414226" y="2534116"/>
                </a:lnTo>
                <a:lnTo>
                  <a:pt x="2457493" y="2525560"/>
                </a:lnTo>
                <a:lnTo>
                  <a:pt x="2492858" y="2501860"/>
                </a:lnTo>
                <a:lnTo>
                  <a:pt x="2516719" y="2466603"/>
                </a:lnTo>
                <a:lnTo>
                  <a:pt x="2525473" y="2423376"/>
                </a:lnTo>
                <a:lnTo>
                  <a:pt x="2525473" y="1377290"/>
                </a:lnTo>
                <a:lnTo>
                  <a:pt x="2523410" y="1377290"/>
                </a:lnTo>
                <a:lnTo>
                  <a:pt x="2523410" y="1276522"/>
                </a:lnTo>
                <a:lnTo>
                  <a:pt x="2476827" y="1323104"/>
                </a:lnTo>
                <a:lnTo>
                  <a:pt x="2470988" y="1323104"/>
                </a:lnTo>
                <a:lnTo>
                  <a:pt x="2463778" y="1315895"/>
                </a:lnTo>
                <a:lnTo>
                  <a:pt x="2463778" y="1310055"/>
                </a:lnTo>
                <a:lnTo>
                  <a:pt x="2525473" y="1248361"/>
                </a:lnTo>
                <a:lnTo>
                  <a:pt x="2525473" y="140544"/>
                </a:lnTo>
                <a:lnTo>
                  <a:pt x="2532334" y="97892"/>
                </a:lnTo>
                <a:lnTo>
                  <a:pt x="2551441" y="60816"/>
                </a:lnTo>
                <a:lnTo>
                  <a:pt x="2580589" y="31532"/>
                </a:lnTo>
                <a:lnTo>
                  <a:pt x="2617574" y="12253"/>
                </a:lnTo>
                <a:lnTo>
                  <a:pt x="2660192" y="5196"/>
                </a:lnTo>
                <a:lnTo>
                  <a:pt x="3653762" y="576"/>
                </a:lnTo>
                <a:lnTo>
                  <a:pt x="3696704" y="7319"/>
                </a:lnTo>
                <a:lnTo>
                  <a:pt x="3734028" y="26469"/>
                </a:lnTo>
                <a:lnTo>
                  <a:pt x="3763479" y="55782"/>
                </a:lnTo>
                <a:lnTo>
                  <a:pt x="3782802" y="93015"/>
                </a:lnTo>
                <a:lnTo>
                  <a:pt x="3789744" y="135924"/>
                </a:lnTo>
                <a:lnTo>
                  <a:pt x="3789744" y="1192724"/>
                </a:lnTo>
                <a:lnTo>
                  <a:pt x="3790751" y="1192724"/>
                </a:lnTo>
                <a:lnTo>
                  <a:pt x="3790751" y="1293492"/>
                </a:lnTo>
                <a:lnTo>
                  <a:pt x="3837333" y="1246910"/>
                </a:lnTo>
                <a:lnTo>
                  <a:pt x="3843173" y="1246910"/>
                </a:lnTo>
                <a:lnTo>
                  <a:pt x="3850382" y="1254119"/>
                </a:lnTo>
                <a:lnTo>
                  <a:pt x="3850382" y="1259959"/>
                </a:lnTo>
                <a:lnTo>
                  <a:pt x="3789744" y="1320597"/>
                </a:lnTo>
                <a:lnTo>
                  <a:pt x="3789744" y="2418179"/>
                </a:lnTo>
                <a:lnTo>
                  <a:pt x="3798446" y="2461283"/>
                </a:lnTo>
                <a:lnTo>
                  <a:pt x="3822178" y="2496484"/>
                </a:lnTo>
                <a:lnTo>
                  <a:pt x="3857376" y="2520217"/>
                </a:lnTo>
                <a:lnTo>
                  <a:pt x="3900479" y="2528920"/>
                </a:lnTo>
                <a:lnTo>
                  <a:pt x="4863292" y="2528920"/>
                </a:lnTo>
                <a:lnTo>
                  <a:pt x="4906395" y="2520217"/>
                </a:lnTo>
                <a:lnTo>
                  <a:pt x="4941596" y="2496484"/>
                </a:lnTo>
                <a:lnTo>
                  <a:pt x="4965329" y="2461283"/>
                </a:lnTo>
                <a:lnTo>
                  <a:pt x="4974032" y="2418179"/>
                </a:lnTo>
                <a:lnTo>
                  <a:pt x="4974032" y="1286758"/>
                </a:lnTo>
                <a:lnTo>
                  <a:pt x="4931539" y="1329251"/>
                </a:lnTo>
                <a:lnTo>
                  <a:pt x="4925699" y="1329251"/>
                </a:lnTo>
                <a:lnTo>
                  <a:pt x="4918490" y="1322048"/>
                </a:lnTo>
                <a:lnTo>
                  <a:pt x="4918490" y="1316202"/>
                </a:lnTo>
                <a:lnTo>
                  <a:pt x="4974032" y="1260659"/>
                </a:lnTo>
                <a:lnTo>
                  <a:pt x="4974032" y="141115"/>
                </a:lnTo>
                <a:lnTo>
                  <a:pt x="4980933" y="98335"/>
                </a:lnTo>
                <a:lnTo>
                  <a:pt x="5000147" y="61180"/>
                </a:lnTo>
                <a:lnTo>
                  <a:pt x="5029446" y="31881"/>
                </a:lnTo>
                <a:lnTo>
                  <a:pt x="5066599" y="12667"/>
                </a:lnTo>
                <a:lnTo>
                  <a:pt x="5109377" y="5767"/>
                </a:lnTo>
                <a:lnTo>
                  <a:pt x="6063974" y="5767"/>
                </a:lnTo>
                <a:lnTo>
                  <a:pt x="6106754" y="12667"/>
                </a:lnTo>
                <a:lnTo>
                  <a:pt x="6143907" y="31881"/>
                </a:lnTo>
                <a:lnTo>
                  <a:pt x="6173205" y="61180"/>
                </a:lnTo>
                <a:lnTo>
                  <a:pt x="6192419" y="98335"/>
                </a:lnTo>
                <a:lnTo>
                  <a:pt x="6199318" y="141115"/>
                </a:lnTo>
                <a:lnTo>
                  <a:pt x="6199318" y="1224413"/>
                </a:lnTo>
                <a:lnTo>
                  <a:pt x="6220455" y="1232412"/>
                </a:lnTo>
                <a:lnTo>
                  <a:pt x="6237353" y="1246793"/>
                </a:lnTo>
                <a:lnTo>
                  <a:pt x="6248558" y="1266099"/>
                </a:lnTo>
                <a:lnTo>
                  <a:pt x="6252616" y="1288878"/>
                </a:lnTo>
                <a:lnTo>
                  <a:pt x="6247463" y="1314420"/>
                </a:lnTo>
                <a:lnTo>
                  <a:pt x="6233407" y="1335278"/>
                </a:lnTo>
                <a:lnTo>
                  <a:pt x="6212555" y="1349342"/>
                </a:lnTo>
                <a:lnTo>
                  <a:pt x="6187013" y="1354499"/>
                </a:lnTo>
                <a:lnTo>
                  <a:pt x="6161471" y="1349342"/>
                </a:lnTo>
                <a:lnTo>
                  <a:pt x="6140612" y="1335278"/>
                </a:lnTo>
                <a:lnTo>
                  <a:pt x="6126549" y="1314420"/>
                </a:lnTo>
                <a:lnTo>
                  <a:pt x="6121392" y="1288878"/>
                </a:lnTo>
                <a:lnTo>
                  <a:pt x="6125453" y="1266099"/>
                </a:lnTo>
                <a:lnTo>
                  <a:pt x="6136666" y="1246793"/>
                </a:lnTo>
                <a:lnTo>
                  <a:pt x="6153571" y="1232412"/>
                </a:lnTo>
                <a:lnTo>
                  <a:pt x="6174708" y="1224413"/>
                </a:lnTo>
                <a:lnTo>
                  <a:pt x="6174708" y="141115"/>
                </a:lnTo>
                <a:lnTo>
                  <a:pt x="6166006" y="98011"/>
                </a:lnTo>
                <a:lnTo>
                  <a:pt x="6142275" y="62811"/>
                </a:lnTo>
                <a:lnTo>
                  <a:pt x="6107077" y="39078"/>
                </a:lnTo>
                <a:lnTo>
                  <a:pt x="6063974" y="30375"/>
                </a:lnTo>
                <a:lnTo>
                  <a:pt x="5109377" y="30375"/>
                </a:lnTo>
                <a:lnTo>
                  <a:pt x="5066274" y="39078"/>
                </a:lnTo>
                <a:lnTo>
                  <a:pt x="5031076" y="62811"/>
                </a:lnTo>
                <a:lnTo>
                  <a:pt x="5007344" y="98011"/>
                </a:lnTo>
                <a:lnTo>
                  <a:pt x="4998642" y="141115"/>
                </a:lnTo>
                <a:lnTo>
                  <a:pt x="4998642" y="1258646"/>
                </a:lnTo>
                <a:lnTo>
                  <a:pt x="5056204" y="1316202"/>
                </a:lnTo>
                <a:lnTo>
                  <a:pt x="5056204" y="1322048"/>
                </a:lnTo>
                <a:lnTo>
                  <a:pt x="5048995" y="1329251"/>
                </a:lnTo>
                <a:lnTo>
                  <a:pt x="5043155" y="1329251"/>
                </a:lnTo>
                <a:lnTo>
                  <a:pt x="4998642" y="1284745"/>
                </a:lnTo>
                <a:lnTo>
                  <a:pt x="4998642" y="2418179"/>
                </a:lnTo>
                <a:lnTo>
                  <a:pt x="4991742" y="2460959"/>
                </a:lnTo>
                <a:lnTo>
                  <a:pt x="4972527" y="2498113"/>
                </a:lnTo>
                <a:lnTo>
                  <a:pt x="4943227" y="2527411"/>
                </a:lnTo>
                <a:lnTo>
                  <a:pt x="4906072" y="2546624"/>
                </a:lnTo>
                <a:lnTo>
                  <a:pt x="4863292" y="2553524"/>
                </a:lnTo>
                <a:lnTo>
                  <a:pt x="3900479" y="2553524"/>
                </a:lnTo>
                <a:lnTo>
                  <a:pt x="3857701" y="2546624"/>
                </a:lnTo>
                <a:lnTo>
                  <a:pt x="3820548" y="2527411"/>
                </a:lnTo>
                <a:lnTo>
                  <a:pt x="3791249" y="2498113"/>
                </a:lnTo>
                <a:lnTo>
                  <a:pt x="3772035" y="2460959"/>
                </a:lnTo>
                <a:lnTo>
                  <a:pt x="3765134" y="2418179"/>
                </a:lnTo>
                <a:lnTo>
                  <a:pt x="3765134" y="1312425"/>
                </a:lnTo>
                <a:lnTo>
                  <a:pt x="3712668" y="1259959"/>
                </a:lnTo>
                <a:lnTo>
                  <a:pt x="3712668" y="1254119"/>
                </a:lnTo>
                <a:lnTo>
                  <a:pt x="3719877" y="1246910"/>
                </a:lnTo>
                <a:lnTo>
                  <a:pt x="3725717" y="1246910"/>
                </a:lnTo>
                <a:lnTo>
                  <a:pt x="3765134" y="1286327"/>
                </a:lnTo>
                <a:lnTo>
                  <a:pt x="3765134" y="135924"/>
                </a:lnTo>
                <a:lnTo>
                  <a:pt x="3756379" y="92694"/>
                </a:lnTo>
                <a:lnTo>
                  <a:pt x="3732516" y="57437"/>
                </a:lnTo>
                <a:lnTo>
                  <a:pt x="3697149" y="33739"/>
                </a:lnTo>
                <a:lnTo>
                  <a:pt x="3653881" y="25185"/>
                </a:lnTo>
                <a:lnTo>
                  <a:pt x="2660305" y="29805"/>
                </a:lnTo>
                <a:lnTo>
                  <a:pt x="2617367" y="38656"/>
                </a:lnTo>
                <a:lnTo>
                  <a:pt x="2582335" y="62422"/>
                </a:lnTo>
                <a:lnTo>
                  <a:pt x="2558733" y="97565"/>
                </a:lnTo>
                <a:lnTo>
                  <a:pt x="2550083" y="140544"/>
                </a:lnTo>
                <a:lnTo>
                  <a:pt x="2550083" y="1258646"/>
                </a:lnTo>
                <a:lnTo>
                  <a:pt x="2601492" y="1310055"/>
                </a:lnTo>
                <a:lnTo>
                  <a:pt x="2601492" y="1315895"/>
                </a:lnTo>
                <a:lnTo>
                  <a:pt x="2594283" y="1323104"/>
                </a:lnTo>
                <a:lnTo>
                  <a:pt x="2588443" y="1323104"/>
                </a:lnTo>
                <a:lnTo>
                  <a:pt x="2550083" y="1284745"/>
                </a:lnTo>
                <a:lnTo>
                  <a:pt x="2550083" y="2423376"/>
                </a:lnTo>
                <a:lnTo>
                  <a:pt x="2543142" y="2466283"/>
                </a:lnTo>
                <a:lnTo>
                  <a:pt x="2523820" y="2503516"/>
                </a:lnTo>
                <a:lnTo>
                  <a:pt x="2494372" y="2532830"/>
                </a:lnTo>
                <a:lnTo>
                  <a:pt x="2457052" y="2551981"/>
                </a:lnTo>
                <a:lnTo>
                  <a:pt x="2414113" y="2558726"/>
                </a:lnTo>
                <a:close/>
              </a:path>
            </a:pathLst>
          </a:custGeom>
          <a:solidFill>
            <a:srgbClr val="7E11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428089" y="6266717"/>
            <a:ext cx="1518219" cy="1332134"/>
          </a:xfrm>
          <a:prstGeom prst="rect">
            <a:avLst/>
          </a:prstGeom>
        </p:spPr>
        <p:txBody>
          <a:bodyPr vert="horz" wrap="square" lIns="0" tIns="10135" rIns="0" bIns="0" rtlCol="0">
            <a:spAutoFit/>
          </a:bodyPr>
          <a:lstStyle/>
          <a:p>
            <a:pPr marL="20270" marR="8108" indent="-1014" algn="ctr">
              <a:lnSpc>
                <a:spcPct val="104400"/>
              </a:lnSpc>
              <a:spcBef>
                <a:spcPts val="80"/>
              </a:spcBef>
            </a:pPr>
            <a:r>
              <a:rPr sz="1756" b="1" spc="-32" dirty="0">
                <a:solidFill>
                  <a:srgbClr val="171A1B"/>
                </a:solidFill>
                <a:latin typeface="Tahoma"/>
                <a:cs typeface="Tahoma"/>
              </a:rPr>
              <a:t>Slot </a:t>
            </a:r>
            <a:r>
              <a:rPr sz="1756" b="1" spc="-16" dirty="0">
                <a:solidFill>
                  <a:srgbClr val="171A1B"/>
                </a:solidFill>
                <a:latin typeface="Tahoma"/>
                <a:cs typeface="Tahoma"/>
              </a:rPr>
              <a:t>Transmission</a:t>
            </a:r>
            <a:endParaRPr sz="1756">
              <a:latin typeface="Tahoma"/>
              <a:cs typeface="Tahoma"/>
            </a:endParaRPr>
          </a:p>
          <a:p>
            <a:pPr marL="120609" marR="108447" indent="-1014" algn="ctr">
              <a:lnSpc>
                <a:spcPct val="108600"/>
              </a:lnSpc>
              <a:spcBef>
                <a:spcPts val="583"/>
              </a:spcBef>
            </a:pPr>
            <a:r>
              <a:rPr sz="1357" spc="-16" dirty="0">
                <a:solidFill>
                  <a:srgbClr val="171A1B"/>
                </a:solidFill>
                <a:latin typeface="Tahoma"/>
                <a:cs typeface="Tahoma"/>
              </a:rPr>
              <a:t>Attempt </a:t>
            </a:r>
            <a:r>
              <a:rPr sz="1357" spc="48" dirty="0">
                <a:solidFill>
                  <a:srgbClr val="171A1B"/>
                </a:solidFill>
                <a:latin typeface="Tahoma"/>
                <a:cs typeface="Tahoma"/>
              </a:rPr>
              <a:t>transmission</a:t>
            </a:r>
            <a:r>
              <a:rPr sz="1357" spc="28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40" dirty="0">
                <a:solidFill>
                  <a:srgbClr val="171A1B"/>
                </a:solidFill>
                <a:latin typeface="Tahoma"/>
                <a:cs typeface="Tahoma"/>
              </a:rPr>
              <a:t>in </a:t>
            </a:r>
            <a:r>
              <a:rPr sz="1357" spc="88" dirty="0">
                <a:solidFill>
                  <a:srgbClr val="171A1B"/>
                </a:solidFill>
                <a:latin typeface="Tahoma"/>
                <a:cs typeface="Tahoma"/>
              </a:rPr>
              <a:t>selected</a:t>
            </a:r>
            <a:r>
              <a:rPr sz="135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32" dirty="0">
                <a:solidFill>
                  <a:srgbClr val="171A1B"/>
                </a:solidFill>
                <a:latin typeface="Tahoma"/>
                <a:cs typeface="Tahoma"/>
              </a:rPr>
              <a:t>slot</a:t>
            </a:r>
            <a:endParaRPr sz="1357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00695" y="6266718"/>
            <a:ext cx="1287142" cy="1332134"/>
          </a:xfrm>
          <a:prstGeom prst="rect">
            <a:avLst/>
          </a:prstGeom>
        </p:spPr>
        <p:txBody>
          <a:bodyPr vert="horz" wrap="square" lIns="0" tIns="10135" rIns="0" bIns="0" rtlCol="0">
            <a:spAutoFit/>
          </a:bodyPr>
          <a:lstStyle/>
          <a:p>
            <a:pPr marL="220948" marR="208786" algn="ctr">
              <a:lnSpc>
                <a:spcPct val="104400"/>
              </a:lnSpc>
              <a:spcBef>
                <a:spcPts val="80"/>
              </a:spcBef>
            </a:pPr>
            <a:r>
              <a:rPr sz="1756" b="1" spc="-16" dirty="0">
                <a:latin typeface="Tahoma"/>
                <a:cs typeface="Tahoma"/>
              </a:rPr>
              <a:t>Backoff Update</a:t>
            </a:r>
            <a:endParaRPr sz="1756">
              <a:latin typeface="Tahoma"/>
              <a:cs typeface="Tahoma"/>
            </a:endParaRPr>
          </a:p>
          <a:p>
            <a:pPr marL="20270" marR="8108" algn="ctr">
              <a:lnSpc>
                <a:spcPct val="108600"/>
              </a:lnSpc>
              <a:spcBef>
                <a:spcPts val="583"/>
              </a:spcBef>
            </a:pPr>
            <a:r>
              <a:rPr sz="1357" spc="16" dirty="0">
                <a:solidFill>
                  <a:srgbClr val="171A1B"/>
                </a:solidFill>
                <a:latin typeface="Tahoma"/>
                <a:cs typeface="Tahoma"/>
              </a:rPr>
              <a:t>Adjust</a:t>
            </a:r>
            <a:r>
              <a:rPr sz="1357" spc="319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80" dirty="0">
                <a:solidFill>
                  <a:srgbClr val="171A1B"/>
                </a:solidFill>
                <a:latin typeface="Tahoma"/>
                <a:cs typeface="Tahoma"/>
              </a:rPr>
              <a:t>window </a:t>
            </a:r>
            <a:r>
              <a:rPr sz="1357" spc="72" dirty="0">
                <a:solidFill>
                  <a:srgbClr val="171A1B"/>
                </a:solidFill>
                <a:latin typeface="Tahoma"/>
                <a:cs typeface="Tahoma"/>
              </a:rPr>
              <a:t>(double</a:t>
            </a:r>
            <a:r>
              <a:rPr sz="1357" spc="-3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48" dirty="0">
                <a:solidFill>
                  <a:srgbClr val="171A1B"/>
                </a:solidFill>
                <a:latin typeface="Tahoma"/>
                <a:cs typeface="Tahoma"/>
              </a:rPr>
              <a:t>on </a:t>
            </a:r>
            <a:r>
              <a:rPr sz="1357" spc="-16" dirty="0">
                <a:solidFill>
                  <a:srgbClr val="171A1B"/>
                </a:solidFill>
                <a:latin typeface="Tahoma"/>
                <a:cs typeface="Tahoma"/>
              </a:rPr>
              <a:t>collision)</a:t>
            </a:r>
            <a:endParaRPr sz="1357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36695" y="3881597"/>
            <a:ext cx="1553692" cy="1357183"/>
          </a:xfrm>
          <a:prstGeom prst="rect">
            <a:avLst/>
          </a:prstGeom>
        </p:spPr>
        <p:txBody>
          <a:bodyPr vert="horz" wrap="square" lIns="0" tIns="19256" rIns="0" bIns="0" rtlCol="0">
            <a:spAutoFit/>
          </a:bodyPr>
          <a:lstStyle/>
          <a:p>
            <a:pPr marL="354733" marR="313179" indent="-29392">
              <a:lnSpc>
                <a:spcPct val="108200"/>
              </a:lnSpc>
              <a:spcBef>
                <a:spcPts val="152"/>
              </a:spcBef>
            </a:pPr>
            <a:r>
              <a:rPr sz="1756" b="1" spc="-56" dirty="0">
                <a:solidFill>
                  <a:srgbClr val="171A1B"/>
                </a:solidFill>
                <a:latin typeface="Tahoma"/>
                <a:cs typeface="Tahoma"/>
              </a:rPr>
              <a:t>Random </a:t>
            </a:r>
            <a:r>
              <a:rPr sz="1756" b="1" spc="-16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endParaRPr sz="1756">
              <a:latin typeface="Tahoma"/>
              <a:cs typeface="Tahoma"/>
            </a:endParaRPr>
          </a:p>
          <a:p>
            <a:pPr marL="20270" marR="8108" indent="490545">
              <a:lnSpc>
                <a:spcPct val="106200"/>
              </a:lnSpc>
              <a:spcBef>
                <a:spcPts val="630"/>
              </a:spcBef>
            </a:pPr>
            <a:r>
              <a:rPr sz="1357" spc="80" dirty="0">
                <a:solidFill>
                  <a:srgbClr val="171A1B"/>
                </a:solidFill>
                <a:latin typeface="Tahoma"/>
                <a:cs typeface="Tahoma"/>
              </a:rPr>
              <a:t>Select randomized</a:t>
            </a:r>
            <a:r>
              <a:rPr sz="1357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32" dirty="0">
                <a:solidFill>
                  <a:srgbClr val="171A1B"/>
                </a:solidFill>
                <a:latin typeface="Tahoma"/>
                <a:cs typeface="Tahoma"/>
              </a:rPr>
              <a:t>delay</a:t>
            </a:r>
            <a:endParaRPr sz="1357">
              <a:latin typeface="Tahoma"/>
              <a:cs typeface="Tahoma"/>
            </a:endParaRPr>
          </a:p>
          <a:p>
            <a:pPr marL="151015">
              <a:spcBef>
                <a:spcPts val="176"/>
              </a:spcBef>
            </a:pPr>
            <a:r>
              <a:rPr sz="1357" spc="16" dirty="0">
                <a:solidFill>
                  <a:srgbClr val="171A1B"/>
                </a:solidFill>
                <a:latin typeface="Tahoma"/>
                <a:cs typeface="Tahoma"/>
              </a:rPr>
              <a:t>before</a:t>
            </a:r>
            <a:r>
              <a:rPr sz="1357" spc="319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16" dirty="0">
                <a:solidFill>
                  <a:srgbClr val="171A1B"/>
                </a:solidFill>
                <a:latin typeface="Tahoma"/>
                <a:cs typeface="Tahoma"/>
              </a:rPr>
              <a:t>attempt</a:t>
            </a:r>
            <a:endParaRPr sz="135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23685" y="3881597"/>
            <a:ext cx="1470585" cy="1363338"/>
          </a:xfrm>
          <a:prstGeom prst="rect">
            <a:avLst/>
          </a:prstGeom>
        </p:spPr>
        <p:txBody>
          <a:bodyPr vert="horz" wrap="square" lIns="0" tIns="19256" rIns="0" bIns="0" rtlCol="0">
            <a:spAutoFit/>
          </a:bodyPr>
          <a:lstStyle/>
          <a:p>
            <a:pPr marL="20270" marR="8108" algn="ctr">
              <a:lnSpc>
                <a:spcPct val="108200"/>
              </a:lnSpc>
              <a:spcBef>
                <a:spcPts val="152"/>
              </a:spcBef>
            </a:pPr>
            <a:r>
              <a:rPr sz="1756" b="1" spc="-16" dirty="0">
                <a:solidFill>
                  <a:srgbClr val="171A1B"/>
                </a:solidFill>
                <a:latin typeface="Tahoma"/>
                <a:cs typeface="Tahoma"/>
              </a:rPr>
              <a:t>Performance Metrics</a:t>
            </a:r>
            <a:endParaRPr sz="1756">
              <a:latin typeface="Tahoma"/>
              <a:cs typeface="Tahoma"/>
            </a:endParaRPr>
          </a:p>
          <a:p>
            <a:pPr algn="ctr">
              <a:spcBef>
                <a:spcPts val="733"/>
              </a:spcBef>
            </a:pPr>
            <a:r>
              <a:rPr sz="1357" spc="88" dirty="0">
                <a:solidFill>
                  <a:srgbClr val="171A1B"/>
                </a:solidFill>
                <a:latin typeface="Tahoma"/>
                <a:cs typeface="Tahoma"/>
              </a:rPr>
              <a:t>Measure</a:t>
            </a:r>
            <a:endParaRPr sz="1357">
              <a:latin typeface="Tahoma"/>
              <a:cs typeface="Tahoma"/>
            </a:endParaRPr>
          </a:p>
          <a:p>
            <a:pPr marL="38514" marR="26352" algn="ctr">
              <a:lnSpc>
                <a:spcPts val="1804"/>
              </a:lnSpc>
              <a:spcBef>
                <a:spcPts val="8"/>
              </a:spcBef>
            </a:pPr>
            <a:r>
              <a:rPr sz="1357" spc="48" dirty="0">
                <a:solidFill>
                  <a:srgbClr val="171A1B"/>
                </a:solidFill>
                <a:latin typeface="Tahoma"/>
                <a:cs typeface="Tahoma"/>
              </a:rPr>
              <a:t>collisions,</a:t>
            </a:r>
            <a:r>
              <a:rPr sz="1357" spc="303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16" dirty="0">
                <a:solidFill>
                  <a:srgbClr val="171A1B"/>
                </a:solidFill>
                <a:latin typeface="Tahoma"/>
                <a:cs typeface="Tahoma"/>
              </a:rPr>
              <a:t>delay, throughput</a:t>
            </a:r>
            <a:endParaRPr sz="1357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65952" y="3881596"/>
            <a:ext cx="1448288" cy="1122695"/>
          </a:xfrm>
          <a:prstGeom prst="rect">
            <a:avLst/>
          </a:prstGeom>
        </p:spPr>
        <p:txBody>
          <a:bodyPr vert="horz" wrap="square" lIns="0" tIns="19256" rIns="0" bIns="0" rtlCol="0">
            <a:spAutoFit/>
          </a:bodyPr>
          <a:lstStyle/>
          <a:p>
            <a:pPr marL="222975" marR="210813" algn="ctr">
              <a:lnSpc>
                <a:spcPct val="108200"/>
              </a:lnSpc>
              <a:spcBef>
                <a:spcPts val="152"/>
              </a:spcBef>
            </a:pPr>
            <a:r>
              <a:rPr sz="1756" b="1" spc="-16" dirty="0">
                <a:latin typeface="Tahoma"/>
                <a:cs typeface="Tahoma"/>
              </a:rPr>
              <a:t>Channel Outcome</a:t>
            </a:r>
            <a:endParaRPr sz="1756">
              <a:latin typeface="Tahoma"/>
              <a:cs typeface="Tahoma"/>
            </a:endParaRPr>
          </a:p>
          <a:p>
            <a:pPr marL="19257" marR="8108" algn="ctr">
              <a:lnSpc>
                <a:spcPct val="106200"/>
              </a:lnSpc>
              <a:spcBef>
                <a:spcPts val="630"/>
              </a:spcBef>
            </a:pPr>
            <a:r>
              <a:rPr sz="1357" dirty="0">
                <a:solidFill>
                  <a:srgbClr val="171A1B"/>
                </a:solidFill>
                <a:latin typeface="Tahoma"/>
                <a:cs typeface="Tahoma"/>
              </a:rPr>
              <a:t>Idle,</a:t>
            </a:r>
            <a:r>
              <a:rPr sz="1357" spc="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120" dirty="0">
                <a:solidFill>
                  <a:srgbClr val="171A1B"/>
                </a:solidFill>
                <a:latin typeface="Tahoma"/>
                <a:cs typeface="Tahoma"/>
              </a:rPr>
              <a:t>Success,</a:t>
            </a:r>
            <a:r>
              <a:rPr sz="1357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-40" dirty="0">
                <a:solidFill>
                  <a:srgbClr val="171A1B"/>
                </a:solidFill>
                <a:latin typeface="Tahoma"/>
                <a:cs typeface="Tahoma"/>
              </a:rPr>
              <a:t>or </a:t>
            </a:r>
            <a:r>
              <a:rPr sz="1357" spc="80" dirty="0">
                <a:solidFill>
                  <a:srgbClr val="171A1B"/>
                </a:solidFill>
                <a:latin typeface="Tahoma"/>
                <a:cs typeface="Tahoma"/>
              </a:rPr>
              <a:t>Collision</a:t>
            </a:r>
            <a:r>
              <a:rPr sz="1357" spc="-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1357" spc="104" dirty="0">
                <a:solidFill>
                  <a:srgbClr val="171A1B"/>
                </a:solidFill>
                <a:latin typeface="Tahoma"/>
                <a:cs typeface="Tahoma"/>
              </a:rPr>
              <a:t>occurs</a:t>
            </a:r>
            <a:endParaRPr sz="1357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358177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7400" y="394269"/>
            <a:ext cx="19378073" cy="1163820"/>
          </a:xfrm>
          <a:prstGeom prst="rect">
            <a:avLst/>
          </a:prstGeom>
        </p:spPr>
        <p:txBody>
          <a:bodyPr vert="horz" wrap="square" lIns="0" tIns="375324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spc="-80" dirty="0"/>
              <a:t>Operationalizing</a:t>
            </a:r>
            <a:r>
              <a:rPr spc="-215" dirty="0"/>
              <a:t> </a:t>
            </a:r>
            <a:r>
              <a:rPr spc="-56" dirty="0"/>
              <a:t>Probabilistic</a:t>
            </a:r>
            <a:r>
              <a:rPr spc="-207" dirty="0"/>
              <a:t> </a:t>
            </a:r>
            <a:r>
              <a:rPr spc="-16" dirty="0"/>
              <a:t>Reasoning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60006" y="2602154"/>
            <a:ext cx="7759337" cy="1989900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spc="-32" dirty="0">
                <a:latin typeface="Tahoma"/>
                <a:cs typeface="Tahoma"/>
              </a:rPr>
              <a:t>Simulation</a:t>
            </a:r>
            <a:r>
              <a:rPr sz="2634" b="1" spc="-104" dirty="0">
                <a:latin typeface="Tahoma"/>
                <a:cs typeface="Tahoma"/>
              </a:rPr>
              <a:t> </a:t>
            </a:r>
            <a:r>
              <a:rPr sz="2634" b="1" spc="-16" dirty="0">
                <a:latin typeface="Tahoma"/>
                <a:cs typeface="Tahoma"/>
              </a:rPr>
              <a:t>Implementation</a:t>
            </a:r>
            <a:endParaRPr sz="2634">
              <a:latin typeface="Tahoma"/>
              <a:cs typeface="Tahoma"/>
            </a:endParaRPr>
          </a:p>
          <a:p>
            <a:pPr marL="20270" marR="8108">
              <a:lnSpc>
                <a:spcPct val="131900"/>
              </a:lnSpc>
              <a:spcBef>
                <a:spcPts val="1883"/>
              </a:spcBef>
            </a:pP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Simulate</a:t>
            </a:r>
            <a:r>
              <a:rPr sz="2155" spc="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82" dirty="0">
                <a:solidFill>
                  <a:srgbClr val="171A1B"/>
                </a:solidFill>
                <a:latin typeface="Tahoma"/>
                <a:cs typeface="Tahoma"/>
              </a:rPr>
              <a:t>N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stations,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20" dirty="0">
                <a:solidFill>
                  <a:srgbClr val="171A1B"/>
                </a:solidFill>
                <a:latin typeface="Tahoma"/>
                <a:cs typeface="Tahoma"/>
              </a:rPr>
              <a:t>each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randomly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selecting</a:t>
            </a:r>
            <a:r>
              <a:rPr sz="2155" spc="4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$r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\in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[0,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20" dirty="0">
                <a:solidFill>
                  <a:srgbClr val="171A1B"/>
                </a:solidFill>
                <a:latin typeface="Tahoma"/>
                <a:cs typeface="Tahoma"/>
              </a:rPr>
              <a:t>2^k</a:t>
            </a:r>
            <a:r>
              <a:rPr sz="2155" spc="5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28" dirty="0">
                <a:solidFill>
                  <a:srgbClr val="171A1B"/>
                </a:solidFill>
                <a:latin typeface="Tahoma"/>
                <a:cs typeface="Tahoma"/>
              </a:rPr>
              <a:t>- </a:t>
            </a:r>
            <a:r>
              <a:rPr sz="2155" spc="-32" dirty="0">
                <a:solidFill>
                  <a:srgbClr val="171A1B"/>
                </a:solidFill>
                <a:latin typeface="Tahoma"/>
                <a:cs typeface="Tahoma"/>
              </a:rPr>
              <a:t>1]$.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Observe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slot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outcomes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over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thousands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of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trials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using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Monte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Carlo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simulation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to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estimate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probabilities.</a:t>
            </a:r>
            <a:endParaRPr sz="2155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007" y="4897726"/>
            <a:ext cx="7863727" cy="1986757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latin typeface="Tahoma"/>
                <a:cs typeface="Tahoma"/>
              </a:rPr>
              <a:t>Simplifying</a:t>
            </a:r>
            <a:r>
              <a:rPr sz="2634" b="1" spc="-136" dirty="0">
                <a:latin typeface="Tahoma"/>
                <a:cs typeface="Tahoma"/>
              </a:rPr>
              <a:t> </a:t>
            </a:r>
            <a:r>
              <a:rPr sz="2634" b="1" spc="-16" dirty="0">
                <a:latin typeface="Tahoma"/>
                <a:cs typeface="Tahoma"/>
              </a:rPr>
              <a:t>Assumptions</a:t>
            </a:r>
            <a:endParaRPr sz="2634">
              <a:latin typeface="Tahoma"/>
              <a:cs typeface="Tahoma"/>
            </a:endParaRPr>
          </a:p>
          <a:p>
            <a:pPr marL="20270">
              <a:spcBef>
                <a:spcPts val="2586"/>
              </a:spcBef>
            </a:pP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Identical</a:t>
            </a:r>
            <a:r>
              <a:rPr sz="2155" spc="19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station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behavior,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continuous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packet</a:t>
            </a:r>
            <a:r>
              <a:rPr sz="2155" spc="20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availability,</a:t>
            </a:r>
            <a:endParaRPr sz="2155">
              <a:latin typeface="Tahoma"/>
              <a:cs typeface="Tahoma"/>
            </a:endParaRPr>
          </a:p>
          <a:p>
            <a:pPr marL="20270" marR="8108">
              <a:lnSpc>
                <a:spcPct val="134300"/>
              </a:lnSpc>
            </a:pP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independent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choices,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ideal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channel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with</a:t>
            </a:r>
            <a:r>
              <a:rPr sz="2155" spc="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perfect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collision</a:t>
            </a:r>
            <a:r>
              <a:rPr sz="2155" spc="-4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detection.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93654" y="2675632"/>
            <a:ext cx="7829268" cy="6202605"/>
            <a:chOff x="5934073" y="1676399"/>
            <a:chExt cx="4905375" cy="3886200"/>
          </a:xfrm>
        </p:grpSpPr>
        <p:sp>
          <p:nvSpPr>
            <p:cNvPr id="6" name="object 6"/>
            <p:cNvSpPr/>
            <p:nvPr/>
          </p:nvSpPr>
          <p:spPr>
            <a:xfrm>
              <a:off x="5938836" y="1681162"/>
              <a:ext cx="4895850" cy="3876675"/>
            </a:xfrm>
            <a:custGeom>
              <a:avLst/>
              <a:gdLst/>
              <a:ahLst/>
              <a:cxnLst/>
              <a:rect l="l" t="t" r="r" b="b"/>
              <a:pathLst>
                <a:path w="4895850" h="3876675">
                  <a:moveTo>
                    <a:pt x="0" y="382142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5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4840604" y="0"/>
                  </a:lnTo>
                  <a:lnTo>
                    <a:pt x="4844232" y="0"/>
                  </a:lnTo>
                  <a:lnTo>
                    <a:pt x="4847825" y="353"/>
                  </a:lnTo>
                  <a:lnTo>
                    <a:pt x="4851381" y="1061"/>
                  </a:lnTo>
                  <a:lnTo>
                    <a:pt x="4854938" y="1769"/>
                  </a:lnTo>
                  <a:lnTo>
                    <a:pt x="4858393" y="2817"/>
                  </a:lnTo>
                  <a:lnTo>
                    <a:pt x="4861744" y="4205"/>
                  </a:lnTo>
                  <a:lnTo>
                    <a:pt x="4865096" y="5593"/>
                  </a:lnTo>
                  <a:lnTo>
                    <a:pt x="4868279" y="7295"/>
                  </a:lnTo>
                  <a:lnTo>
                    <a:pt x="4871295" y="9310"/>
                  </a:lnTo>
                  <a:lnTo>
                    <a:pt x="4874313" y="11325"/>
                  </a:lnTo>
                  <a:lnTo>
                    <a:pt x="4877103" y="13615"/>
                  </a:lnTo>
                  <a:lnTo>
                    <a:pt x="4879667" y="16180"/>
                  </a:lnTo>
                  <a:lnTo>
                    <a:pt x="4882232" y="18745"/>
                  </a:lnTo>
                  <a:lnTo>
                    <a:pt x="4884521" y="21536"/>
                  </a:lnTo>
                  <a:lnTo>
                    <a:pt x="4886536" y="24552"/>
                  </a:lnTo>
                  <a:lnTo>
                    <a:pt x="4888552" y="27568"/>
                  </a:lnTo>
                  <a:lnTo>
                    <a:pt x="4895850" y="51617"/>
                  </a:lnTo>
                  <a:lnTo>
                    <a:pt x="4895850" y="55244"/>
                  </a:lnTo>
                  <a:lnTo>
                    <a:pt x="4895850" y="3821429"/>
                  </a:lnTo>
                  <a:lnTo>
                    <a:pt x="4895850" y="3825056"/>
                  </a:lnTo>
                  <a:lnTo>
                    <a:pt x="4895495" y="3828649"/>
                  </a:lnTo>
                  <a:lnTo>
                    <a:pt x="4894787" y="3832207"/>
                  </a:lnTo>
                  <a:lnTo>
                    <a:pt x="4894079" y="3835764"/>
                  </a:lnTo>
                  <a:lnTo>
                    <a:pt x="4886537" y="3852120"/>
                  </a:lnTo>
                  <a:lnTo>
                    <a:pt x="4884522" y="3855137"/>
                  </a:lnTo>
                  <a:lnTo>
                    <a:pt x="4861744" y="3872468"/>
                  </a:lnTo>
                  <a:lnTo>
                    <a:pt x="4858393" y="3873856"/>
                  </a:lnTo>
                  <a:lnTo>
                    <a:pt x="4854938" y="3874905"/>
                  </a:lnTo>
                  <a:lnTo>
                    <a:pt x="4851380" y="3875612"/>
                  </a:lnTo>
                  <a:lnTo>
                    <a:pt x="4847824" y="3876320"/>
                  </a:lnTo>
                  <a:lnTo>
                    <a:pt x="4844232" y="3876674"/>
                  </a:lnTo>
                  <a:lnTo>
                    <a:pt x="4840604" y="3876674"/>
                  </a:lnTo>
                  <a:lnTo>
                    <a:pt x="55245" y="3876674"/>
                  </a:lnTo>
                  <a:lnTo>
                    <a:pt x="18745" y="3863057"/>
                  </a:lnTo>
                  <a:lnTo>
                    <a:pt x="9309" y="3852120"/>
                  </a:lnTo>
                  <a:lnTo>
                    <a:pt x="7294" y="3849104"/>
                  </a:lnTo>
                  <a:lnTo>
                    <a:pt x="5592" y="3845921"/>
                  </a:lnTo>
                  <a:lnTo>
                    <a:pt x="4205" y="3842570"/>
                  </a:lnTo>
                  <a:lnTo>
                    <a:pt x="2816" y="3839218"/>
                  </a:lnTo>
                  <a:lnTo>
                    <a:pt x="1769" y="3835764"/>
                  </a:lnTo>
                  <a:lnTo>
                    <a:pt x="1061" y="3832207"/>
                  </a:lnTo>
                  <a:lnTo>
                    <a:pt x="354" y="3828649"/>
                  </a:lnTo>
                  <a:lnTo>
                    <a:pt x="0" y="3825056"/>
                  </a:lnTo>
                  <a:lnTo>
                    <a:pt x="0" y="382142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43587" y="1685924"/>
              <a:ext cx="4886325" cy="3867150"/>
            </a:xfrm>
            <a:custGeom>
              <a:avLst/>
              <a:gdLst/>
              <a:ahLst/>
              <a:cxnLst/>
              <a:rect l="l" t="t" r="r" b="b"/>
              <a:pathLst>
                <a:path w="4886325" h="3867150">
                  <a:moveTo>
                    <a:pt x="2438400" y="3086100"/>
                  </a:moveTo>
                  <a:lnTo>
                    <a:pt x="0" y="3086100"/>
                  </a:lnTo>
                  <a:lnTo>
                    <a:pt x="0" y="3815105"/>
                  </a:lnTo>
                  <a:lnTo>
                    <a:pt x="23202" y="3855212"/>
                  </a:lnTo>
                  <a:lnTo>
                    <a:pt x="52057" y="3867150"/>
                  </a:lnTo>
                  <a:lnTo>
                    <a:pt x="2438400" y="3867150"/>
                  </a:lnTo>
                  <a:lnTo>
                    <a:pt x="2438400" y="3086100"/>
                  </a:lnTo>
                  <a:close/>
                </a:path>
                <a:path w="4886325" h="3867150">
                  <a:moveTo>
                    <a:pt x="2438400" y="0"/>
                  </a:moveTo>
                  <a:lnTo>
                    <a:pt x="52057" y="0"/>
                  </a:lnTo>
                  <a:lnTo>
                    <a:pt x="44399" y="1524"/>
                  </a:lnTo>
                  <a:lnTo>
                    <a:pt x="11950" y="23202"/>
                  </a:lnTo>
                  <a:lnTo>
                    <a:pt x="0" y="52057"/>
                  </a:lnTo>
                  <a:lnTo>
                    <a:pt x="0" y="771525"/>
                  </a:lnTo>
                  <a:lnTo>
                    <a:pt x="2438400" y="771525"/>
                  </a:lnTo>
                  <a:lnTo>
                    <a:pt x="2438400" y="0"/>
                  </a:lnTo>
                  <a:close/>
                </a:path>
                <a:path w="4886325" h="3867150">
                  <a:moveTo>
                    <a:pt x="4886325" y="3086100"/>
                  </a:moveTo>
                  <a:lnTo>
                    <a:pt x="2447925" y="3086100"/>
                  </a:lnTo>
                  <a:lnTo>
                    <a:pt x="2447925" y="3867150"/>
                  </a:lnTo>
                  <a:lnTo>
                    <a:pt x="4834280" y="3867150"/>
                  </a:lnTo>
                  <a:lnTo>
                    <a:pt x="4841938" y="3865638"/>
                  </a:lnTo>
                  <a:lnTo>
                    <a:pt x="4874374" y="3843947"/>
                  </a:lnTo>
                  <a:lnTo>
                    <a:pt x="4886325" y="3815105"/>
                  </a:lnTo>
                  <a:lnTo>
                    <a:pt x="4886325" y="3086100"/>
                  </a:lnTo>
                  <a:close/>
                </a:path>
                <a:path w="4886325" h="3867150">
                  <a:moveTo>
                    <a:pt x="4886325" y="52057"/>
                  </a:moveTo>
                  <a:lnTo>
                    <a:pt x="4863122" y="11950"/>
                  </a:lnTo>
                  <a:lnTo>
                    <a:pt x="4834280" y="0"/>
                  </a:lnTo>
                  <a:lnTo>
                    <a:pt x="2447925" y="0"/>
                  </a:lnTo>
                  <a:lnTo>
                    <a:pt x="2447925" y="771525"/>
                  </a:lnTo>
                  <a:lnTo>
                    <a:pt x="4886325" y="771525"/>
                  </a:lnTo>
                  <a:lnTo>
                    <a:pt x="4886325" y="52057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761757" y="2868199"/>
            <a:ext cx="907080" cy="352097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>
              <a:spcBef>
                <a:spcPts val="160"/>
              </a:spcBef>
            </a:pPr>
            <a:r>
              <a:rPr sz="2155" b="1" spc="-16" dirty="0">
                <a:solidFill>
                  <a:srgbClr val="171A1B"/>
                </a:solidFill>
                <a:latin typeface="Tahoma"/>
                <a:cs typeface="Tahoma"/>
              </a:rPr>
              <a:t>Metric</a:t>
            </a:r>
            <a:endParaRPr sz="2155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669029" y="2755699"/>
            <a:ext cx="1874970" cy="912739"/>
          </a:xfrm>
          <a:prstGeom prst="rect">
            <a:avLst/>
          </a:prstGeom>
        </p:spPr>
        <p:txBody>
          <a:bodyPr vert="horz" wrap="square" lIns="0" tIns="132768" rIns="0" bIns="0" rtlCol="0">
            <a:spAutoFit/>
          </a:bodyPr>
          <a:lstStyle/>
          <a:p>
            <a:pPr marL="20270">
              <a:spcBef>
                <a:spcPts val="1045"/>
              </a:spcBef>
            </a:pPr>
            <a:r>
              <a:rPr sz="2155" b="1" spc="-16" dirty="0">
                <a:solidFill>
                  <a:srgbClr val="171A1B"/>
                </a:solidFill>
                <a:latin typeface="Tahoma"/>
                <a:cs typeface="Tahoma"/>
              </a:rPr>
              <a:t>Probabilistic</a:t>
            </a:r>
            <a:endParaRPr sz="2155">
              <a:latin typeface="Tahoma"/>
              <a:cs typeface="Tahoma"/>
            </a:endParaRPr>
          </a:p>
          <a:p>
            <a:pPr marL="20270">
              <a:spcBef>
                <a:spcPts val="886"/>
              </a:spcBef>
            </a:pPr>
            <a:r>
              <a:rPr sz="2155" b="1" spc="-88" dirty="0">
                <a:solidFill>
                  <a:srgbClr val="171A1B"/>
                </a:solidFill>
                <a:latin typeface="Tahoma"/>
                <a:cs typeface="Tahoma"/>
              </a:rPr>
              <a:t>Interpretation</a:t>
            </a:r>
            <a:endParaRPr sz="2155">
              <a:latin typeface="Tahoma"/>
              <a:cs typeface="Tahom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508858" y="3922234"/>
          <a:ext cx="7797850" cy="3691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9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0386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200" spc="5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Collision</a:t>
                      </a:r>
                      <a:r>
                        <a:rPr sz="2200" spc="-1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2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Rate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212834" marB="0">
                    <a:lnR w="9525">
                      <a:solidFill>
                        <a:srgbClr val="F1F1ED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323215">
                        <a:lnSpc>
                          <a:spcPct val="129600"/>
                        </a:lnSpc>
                        <a:spcBef>
                          <a:spcPts val="570"/>
                        </a:spcBef>
                      </a:pPr>
                      <a:r>
                        <a:rPr sz="22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P(more</a:t>
                      </a:r>
                      <a:r>
                        <a:rPr sz="2200" spc="8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than</a:t>
                      </a:r>
                      <a:r>
                        <a:rPr sz="2200" spc="8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5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sz="2200" spc="8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1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station </a:t>
                      </a:r>
                      <a:r>
                        <a:rPr sz="22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transmits</a:t>
                      </a:r>
                      <a:r>
                        <a:rPr sz="2200" spc="9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2200" spc="1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2200" spc="10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1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slot)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15539" marB="0">
                    <a:lnL w="9525">
                      <a:solidFill>
                        <a:srgbClr val="F1F1ED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0386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200" spc="10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Success</a:t>
                      </a:r>
                      <a:r>
                        <a:rPr sz="2200" spc="-3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2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Rate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212834" marB="0">
                    <a:lnR w="9525">
                      <a:solidFill>
                        <a:srgbClr val="F1F1ED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56451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2200" spc="4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P(exactly</a:t>
                      </a:r>
                      <a:r>
                        <a:rPr sz="2200" spc="-2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5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one</a:t>
                      </a:r>
                      <a:r>
                        <a:rPr sz="2200" spc="-2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1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station transmits)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00336" marB="0">
                    <a:lnL w="9525">
                      <a:solidFill>
                        <a:srgbClr val="F1F1ED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0386">
                <a:tc>
                  <a:txBody>
                    <a:bodyPr/>
                    <a:lstStyle/>
                    <a:p>
                      <a:pPr marL="17081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2200" spc="-1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Throughput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212834" marB="0">
                    <a:lnR w="9525">
                      <a:solidFill>
                        <a:srgbClr val="F1F1ED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75895" marR="484505">
                        <a:lnSpc>
                          <a:spcPct val="134300"/>
                        </a:lnSpc>
                        <a:spcBef>
                          <a:spcPts val="495"/>
                        </a:spcBef>
                      </a:pPr>
                      <a:r>
                        <a:rPr sz="2200" spc="6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Expected</a:t>
                      </a:r>
                      <a:r>
                        <a:rPr sz="2200" spc="-4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7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successful </a:t>
                      </a:r>
                      <a:r>
                        <a:rPr sz="2200" spc="5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transmissions</a:t>
                      </a:r>
                      <a:r>
                        <a:rPr sz="2200" spc="-4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5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per</a:t>
                      </a:r>
                      <a:r>
                        <a:rPr sz="2200" spc="-35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2200" spc="-20" dirty="0">
                          <a:solidFill>
                            <a:srgbClr val="171A1B"/>
                          </a:solidFill>
                          <a:latin typeface="Tahoma"/>
                          <a:cs typeface="Tahoma"/>
                        </a:rPr>
                        <a:t>slot</a:t>
                      </a:r>
                      <a:endParaRPr sz="2200">
                        <a:latin typeface="Tahoma"/>
                        <a:cs typeface="Tahoma"/>
                      </a:endParaRPr>
                    </a:p>
                  </a:txBody>
                  <a:tcPr marL="0" marR="0" marT="100336" marB="0">
                    <a:lnL w="9525">
                      <a:solidFill>
                        <a:srgbClr val="F1F1ED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761756" y="7808998"/>
            <a:ext cx="768231" cy="352097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>
              <a:spcBef>
                <a:spcPts val="160"/>
              </a:spcBef>
            </a:pP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Delay</a:t>
            </a:r>
            <a:endParaRPr sz="2155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69030" y="7696499"/>
            <a:ext cx="3347582" cy="909173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 marR="8108">
              <a:lnSpc>
                <a:spcPct val="134300"/>
              </a:lnSpc>
              <a:spcBef>
                <a:spcPts val="160"/>
              </a:spcBef>
            </a:pP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Expected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number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of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slots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before</a:t>
            </a:r>
            <a:r>
              <a:rPr sz="2155" spc="399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44" dirty="0">
                <a:solidFill>
                  <a:srgbClr val="171A1B"/>
                </a:solidFill>
                <a:latin typeface="Tahoma"/>
                <a:cs typeface="Tahoma"/>
              </a:rPr>
              <a:t>success</a:t>
            </a:r>
            <a:endParaRPr sz="2155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51252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489" y="1333500"/>
            <a:ext cx="9765049" cy="1595245"/>
          </a:xfrm>
          <a:prstGeom prst="rect">
            <a:avLst/>
          </a:prstGeom>
        </p:spPr>
        <p:txBody>
          <a:bodyPr vert="horz" wrap="square" lIns="0" tIns="25337" rIns="0" bIns="0" rtlCol="0">
            <a:spAutoFit/>
          </a:bodyPr>
          <a:lstStyle/>
          <a:p>
            <a:pPr marL="20270">
              <a:spcBef>
                <a:spcPts val="200"/>
              </a:spcBef>
            </a:pPr>
            <a:r>
              <a:rPr spc="-56" dirty="0"/>
              <a:t>Current</a:t>
            </a:r>
            <a:r>
              <a:rPr spc="-303" dirty="0"/>
              <a:t> </a:t>
            </a:r>
            <a:r>
              <a:rPr spc="-104" dirty="0"/>
              <a:t>Limitations</a:t>
            </a:r>
            <a:r>
              <a:rPr spc="-295" dirty="0"/>
              <a:t> </a:t>
            </a:r>
            <a:r>
              <a:rPr spc="-64" dirty="0"/>
              <a:t>and</a:t>
            </a:r>
            <a:r>
              <a:rPr spc="-295" dirty="0"/>
              <a:t> </a:t>
            </a:r>
            <a:r>
              <a:rPr spc="-32" dirty="0"/>
              <a:t>Gaps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9871" y="4302295"/>
            <a:ext cx="5290457" cy="2949278"/>
            <a:chOff x="581024" y="2695574"/>
            <a:chExt cx="3314700" cy="1847850"/>
          </a:xfrm>
        </p:grpSpPr>
        <p:sp>
          <p:nvSpPr>
            <p:cNvPr id="4" name="object 4"/>
            <p:cNvSpPr/>
            <p:nvPr/>
          </p:nvSpPr>
          <p:spPr>
            <a:xfrm>
              <a:off x="600074" y="27050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6" y="1828799"/>
                  </a:moveTo>
                  <a:lnTo>
                    <a:pt x="71196" y="1828799"/>
                  </a:lnTo>
                  <a:lnTo>
                    <a:pt x="66241" y="1828372"/>
                  </a:lnTo>
                  <a:lnTo>
                    <a:pt x="29705" y="1815130"/>
                  </a:lnTo>
                  <a:lnTo>
                    <a:pt x="3885" y="1783594"/>
                  </a:lnTo>
                  <a:lnTo>
                    <a:pt x="0" y="1766502"/>
                  </a:lnTo>
                  <a:lnTo>
                    <a:pt x="0" y="1762124"/>
                  </a:lnTo>
                  <a:lnTo>
                    <a:pt x="0" y="62297"/>
                  </a:lnTo>
                  <a:lnTo>
                    <a:pt x="15621" y="25991"/>
                  </a:lnTo>
                  <a:lnTo>
                    <a:pt x="51661" y="3400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4" y="47167"/>
                  </a:lnTo>
                  <a:lnTo>
                    <a:pt x="3286124" y="1781632"/>
                  </a:lnTo>
                  <a:lnTo>
                    <a:pt x="3268995" y="1816357"/>
                  </a:lnTo>
                  <a:lnTo>
                    <a:pt x="3242239" y="1828476"/>
                  </a:lnTo>
                  <a:lnTo>
                    <a:pt x="3238956" y="1828799"/>
                  </a:lnTo>
                  <a:close/>
                </a:path>
              </a:pathLst>
            </a:custGeom>
            <a:solidFill>
              <a:srgbClr val="F1F1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913" y="2695574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61" y="23202"/>
                  </a:lnTo>
                  <a:lnTo>
                    <a:pt x="3277705" y="18059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19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74999" y="1796021"/>
                  </a:lnTo>
                  <a:lnTo>
                    <a:pt x="3272790" y="1803463"/>
                  </a:lnTo>
                  <a:lnTo>
                    <a:pt x="3269005" y="1810499"/>
                  </a:lnTo>
                  <a:lnTo>
                    <a:pt x="3264192" y="1816290"/>
                  </a:lnTo>
                  <a:lnTo>
                    <a:pt x="3263760" y="1816811"/>
                  </a:lnTo>
                  <a:lnTo>
                    <a:pt x="3257448" y="1822056"/>
                  </a:lnTo>
                  <a:lnTo>
                    <a:pt x="3250527" y="1825802"/>
                  </a:lnTo>
                  <a:lnTo>
                    <a:pt x="3242970" y="1828050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86"/>
                  </a:lnTo>
                  <a:lnTo>
                    <a:pt x="1092" y="1786521"/>
                  </a:lnTo>
                  <a:lnTo>
                    <a:pt x="0" y="1782406"/>
                  </a:lnTo>
                  <a:lnTo>
                    <a:pt x="609" y="1786521"/>
                  </a:lnTo>
                  <a:lnTo>
                    <a:pt x="21475" y="1825536"/>
                  </a:lnTo>
                  <a:lnTo>
                    <a:pt x="60490" y="1846402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44" y="1846402"/>
                  </a:lnTo>
                  <a:lnTo>
                    <a:pt x="3250234" y="1846402"/>
                  </a:lnTo>
                  <a:lnTo>
                    <a:pt x="3265119" y="1840242"/>
                  </a:lnTo>
                  <a:lnTo>
                    <a:pt x="3271596" y="1835912"/>
                  </a:lnTo>
                  <a:lnTo>
                    <a:pt x="3277222" y="1830285"/>
                  </a:lnTo>
                  <a:lnTo>
                    <a:pt x="3277705" y="1829803"/>
                  </a:lnTo>
                  <a:lnTo>
                    <a:pt x="3282861" y="1824647"/>
                  </a:lnTo>
                  <a:lnTo>
                    <a:pt x="3287191" y="1818157"/>
                  </a:lnTo>
                  <a:lnTo>
                    <a:pt x="3293287" y="1803463"/>
                  </a:lnTo>
                  <a:lnTo>
                    <a:pt x="3294761" y="179602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DEB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4" y="26955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200" y="1847849"/>
                  </a:moveTo>
                  <a:lnTo>
                    <a:pt x="56067" y="1847849"/>
                  </a:lnTo>
                  <a:lnTo>
                    <a:pt x="52165" y="1847465"/>
                  </a:lnTo>
                  <a:lnTo>
                    <a:pt x="14789" y="1827487"/>
                  </a:lnTo>
                  <a:lnTo>
                    <a:pt x="0" y="1791782"/>
                  </a:lnTo>
                  <a:lnTo>
                    <a:pt x="0" y="178784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5" y="384"/>
                  </a:lnTo>
                  <a:lnTo>
                    <a:pt x="56067" y="0"/>
                  </a:lnTo>
                  <a:lnTo>
                    <a:pt x="76200" y="0"/>
                  </a:lnTo>
                  <a:lnTo>
                    <a:pt x="76200" y="18478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355272" y="4578474"/>
            <a:ext cx="4335742" cy="2300176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solidFill>
                  <a:srgbClr val="171A1B"/>
                </a:solidFill>
                <a:latin typeface="Tahoma"/>
                <a:cs typeface="Tahoma"/>
              </a:rPr>
              <a:t>Known</a:t>
            </a:r>
            <a:r>
              <a:rPr sz="2634" b="1" spc="-16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634" b="1" spc="-16" dirty="0">
                <a:solidFill>
                  <a:srgbClr val="171A1B"/>
                </a:solidFill>
                <a:latin typeface="Tahoma"/>
                <a:cs typeface="Tahoma"/>
              </a:rPr>
              <a:t>Weaknesses</a:t>
            </a:r>
            <a:endParaRPr sz="2634">
              <a:latin typeface="Tahoma"/>
              <a:cs typeface="Tahoma"/>
            </a:endParaRPr>
          </a:p>
          <a:p>
            <a:pPr marL="20270" marR="8108">
              <a:lnSpc>
                <a:spcPct val="134300"/>
              </a:lnSpc>
              <a:spcBef>
                <a:spcPts val="742"/>
              </a:spcBef>
            </a:pP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Real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28" dirty="0">
                <a:solidFill>
                  <a:srgbClr val="171A1B"/>
                </a:solidFill>
                <a:latin typeface="Tahoma"/>
                <a:cs typeface="Tahoma"/>
              </a:rPr>
              <a:t>Wi-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Fi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includes</a:t>
            </a:r>
            <a:r>
              <a:rPr sz="2155" spc="9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noise,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64" dirty="0">
                <a:solidFill>
                  <a:srgbClr val="171A1B"/>
                </a:solidFill>
                <a:latin typeface="Tahoma"/>
                <a:cs typeface="Tahoma"/>
              </a:rPr>
              <a:t>hidden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terminals,</a:t>
            </a:r>
            <a:r>
              <a:rPr sz="2155" spc="303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variable</a:t>
            </a:r>
            <a:r>
              <a:rPr sz="2155" spc="311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packet</a:t>
            </a:r>
            <a:r>
              <a:rPr sz="2155" spc="311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sizes,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hardware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timing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20" dirty="0">
                <a:solidFill>
                  <a:srgbClr val="171A1B"/>
                </a:solidFill>
                <a:latin typeface="Tahoma"/>
                <a:cs typeface="Tahoma"/>
              </a:rPr>
              <a:t>issues</a:t>
            </a:r>
            <a:r>
              <a:rPr sz="2155" spc="15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40" dirty="0">
                <a:solidFill>
                  <a:srgbClr val="171A1B"/>
                </a:solidFill>
                <a:latin typeface="Tahoma"/>
                <a:cs typeface="Tahoma"/>
              </a:rPr>
              <a:t>not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modeled.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3567" y="4302295"/>
            <a:ext cx="5290457" cy="2949278"/>
            <a:chOff x="4048124" y="2695574"/>
            <a:chExt cx="3314700" cy="1847850"/>
          </a:xfrm>
        </p:grpSpPr>
        <p:sp>
          <p:nvSpPr>
            <p:cNvPr id="9" name="object 9"/>
            <p:cNvSpPr/>
            <p:nvPr/>
          </p:nvSpPr>
          <p:spPr>
            <a:xfrm>
              <a:off x="4067174" y="27050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6" y="1828799"/>
                  </a:moveTo>
                  <a:lnTo>
                    <a:pt x="71196" y="1828799"/>
                  </a:lnTo>
                  <a:lnTo>
                    <a:pt x="66241" y="1828372"/>
                  </a:lnTo>
                  <a:lnTo>
                    <a:pt x="29705" y="1815130"/>
                  </a:lnTo>
                  <a:lnTo>
                    <a:pt x="3885" y="1783594"/>
                  </a:lnTo>
                  <a:lnTo>
                    <a:pt x="0" y="1766502"/>
                  </a:lnTo>
                  <a:lnTo>
                    <a:pt x="0" y="1762124"/>
                  </a:lnTo>
                  <a:lnTo>
                    <a:pt x="0" y="62297"/>
                  </a:lnTo>
                  <a:lnTo>
                    <a:pt x="15621" y="25991"/>
                  </a:lnTo>
                  <a:lnTo>
                    <a:pt x="51661" y="3400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2" y="17129"/>
                  </a:lnTo>
                  <a:lnTo>
                    <a:pt x="3286125" y="47167"/>
                  </a:lnTo>
                  <a:lnTo>
                    <a:pt x="3286125" y="1781632"/>
                  </a:lnTo>
                  <a:lnTo>
                    <a:pt x="3268994" y="1816357"/>
                  </a:lnTo>
                  <a:lnTo>
                    <a:pt x="3242239" y="1828476"/>
                  </a:lnTo>
                  <a:lnTo>
                    <a:pt x="3238956" y="1828799"/>
                  </a:lnTo>
                  <a:close/>
                </a:path>
              </a:pathLst>
            </a:custGeom>
            <a:solidFill>
              <a:srgbClr val="F1F1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8013" y="2695574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61" y="23202"/>
                  </a:lnTo>
                  <a:lnTo>
                    <a:pt x="3277705" y="18059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74999" y="1796021"/>
                  </a:lnTo>
                  <a:lnTo>
                    <a:pt x="3272790" y="1803463"/>
                  </a:lnTo>
                  <a:lnTo>
                    <a:pt x="3269005" y="1810499"/>
                  </a:lnTo>
                  <a:lnTo>
                    <a:pt x="3264192" y="1816290"/>
                  </a:lnTo>
                  <a:lnTo>
                    <a:pt x="3263760" y="1816811"/>
                  </a:lnTo>
                  <a:lnTo>
                    <a:pt x="3257448" y="1822056"/>
                  </a:lnTo>
                  <a:lnTo>
                    <a:pt x="3250527" y="1825802"/>
                  </a:lnTo>
                  <a:lnTo>
                    <a:pt x="3242970" y="1828050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86"/>
                  </a:lnTo>
                  <a:lnTo>
                    <a:pt x="1092" y="1786521"/>
                  </a:lnTo>
                  <a:lnTo>
                    <a:pt x="0" y="1782406"/>
                  </a:lnTo>
                  <a:lnTo>
                    <a:pt x="609" y="1786521"/>
                  </a:lnTo>
                  <a:lnTo>
                    <a:pt x="21475" y="1825536"/>
                  </a:lnTo>
                  <a:lnTo>
                    <a:pt x="60490" y="1846402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44" y="1846402"/>
                  </a:lnTo>
                  <a:lnTo>
                    <a:pt x="3250234" y="1846402"/>
                  </a:lnTo>
                  <a:lnTo>
                    <a:pt x="3265106" y="1840242"/>
                  </a:lnTo>
                  <a:lnTo>
                    <a:pt x="3271596" y="1835912"/>
                  </a:lnTo>
                  <a:lnTo>
                    <a:pt x="3277222" y="1830285"/>
                  </a:lnTo>
                  <a:lnTo>
                    <a:pt x="3277705" y="1829803"/>
                  </a:lnTo>
                  <a:lnTo>
                    <a:pt x="3282861" y="1824647"/>
                  </a:lnTo>
                  <a:lnTo>
                    <a:pt x="3287191" y="1818157"/>
                  </a:lnTo>
                  <a:lnTo>
                    <a:pt x="3293275" y="1803463"/>
                  </a:lnTo>
                  <a:lnTo>
                    <a:pt x="3294761" y="179602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DEB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48124" y="26955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199" y="1847849"/>
                  </a:moveTo>
                  <a:lnTo>
                    <a:pt x="56067" y="1847849"/>
                  </a:lnTo>
                  <a:lnTo>
                    <a:pt x="52164" y="1847465"/>
                  </a:lnTo>
                  <a:lnTo>
                    <a:pt x="14789" y="1827487"/>
                  </a:lnTo>
                  <a:lnTo>
                    <a:pt x="0" y="1791782"/>
                  </a:lnTo>
                  <a:lnTo>
                    <a:pt x="0" y="1787842"/>
                  </a:lnTo>
                  <a:lnTo>
                    <a:pt x="0" y="56067"/>
                  </a:lnTo>
                  <a:lnTo>
                    <a:pt x="14789" y="20361"/>
                  </a:lnTo>
                  <a:lnTo>
                    <a:pt x="52164" y="384"/>
                  </a:lnTo>
                  <a:lnTo>
                    <a:pt x="56067" y="0"/>
                  </a:lnTo>
                  <a:lnTo>
                    <a:pt x="76199" y="0"/>
                  </a:lnTo>
                  <a:lnTo>
                    <a:pt x="76199" y="18478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88968" y="4578474"/>
            <a:ext cx="4074260" cy="1855824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solidFill>
                  <a:srgbClr val="171A1B"/>
                </a:solidFill>
                <a:latin typeface="Tahoma"/>
                <a:cs typeface="Tahoma"/>
              </a:rPr>
              <a:t>Unverified</a:t>
            </a:r>
            <a:r>
              <a:rPr sz="2634" b="1" spc="-12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634" b="1" spc="-16" dirty="0">
                <a:solidFill>
                  <a:srgbClr val="171A1B"/>
                </a:solidFill>
                <a:latin typeface="Tahoma"/>
                <a:cs typeface="Tahoma"/>
              </a:rPr>
              <a:t>Assumptions</a:t>
            </a:r>
            <a:endParaRPr sz="2634">
              <a:latin typeface="Tahoma"/>
              <a:cs typeface="Tahoma"/>
            </a:endParaRPr>
          </a:p>
          <a:p>
            <a:pPr marL="20270" marR="229056">
              <a:lnSpc>
                <a:spcPct val="134300"/>
              </a:lnSpc>
              <a:spcBef>
                <a:spcPts val="742"/>
              </a:spcBef>
            </a:pP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Backoff</a:t>
            </a:r>
            <a:r>
              <a:rPr sz="2155" spc="-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36" dirty="0">
                <a:solidFill>
                  <a:srgbClr val="171A1B"/>
                </a:solidFill>
                <a:latin typeface="Tahoma"/>
                <a:cs typeface="Tahoma"/>
              </a:rPr>
              <a:t>choices</a:t>
            </a:r>
            <a:r>
              <a:rPr sz="2155" spc="-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are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assumed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independent,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a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64" dirty="0">
                <a:solidFill>
                  <a:srgbClr val="171A1B"/>
                </a:solidFill>
                <a:latin typeface="Tahoma"/>
                <a:cs typeface="Tahoma"/>
              </a:rPr>
              <a:t>constant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number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of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active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stations.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017264" y="4302295"/>
            <a:ext cx="5290457" cy="2949278"/>
            <a:chOff x="7515224" y="2695574"/>
            <a:chExt cx="3314700" cy="1847850"/>
          </a:xfrm>
        </p:grpSpPr>
        <p:sp>
          <p:nvSpPr>
            <p:cNvPr id="14" name="object 14"/>
            <p:cNvSpPr/>
            <p:nvPr/>
          </p:nvSpPr>
          <p:spPr>
            <a:xfrm>
              <a:off x="7534274" y="2705099"/>
              <a:ext cx="3286125" cy="1828800"/>
            </a:xfrm>
            <a:custGeom>
              <a:avLst/>
              <a:gdLst/>
              <a:ahLst/>
              <a:cxnLst/>
              <a:rect l="l" t="t" r="r" b="b"/>
              <a:pathLst>
                <a:path w="3286125" h="1828800">
                  <a:moveTo>
                    <a:pt x="3238956" y="1828799"/>
                  </a:moveTo>
                  <a:lnTo>
                    <a:pt x="71196" y="1828799"/>
                  </a:lnTo>
                  <a:lnTo>
                    <a:pt x="66240" y="1828372"/>
                  </a:lnTo>
                  <a:lnTo>
                    <a:pt x="29705" y="1815130"/>
                  </a:lnTo>
                  <a:lnTo>
                    <a:pt x="3885" y="1783594"/>
                  </a:lnTo>
                  <a:lnTo>
                    <a:pt x="0" y="1762124"/>
                  </a:lnTo>
                  <a:lnTo>
                    <a:pt x="0" y="62297"/>
                  </a:lnTo>
                  <a:lnTo>
                    <a:pt x="15621" y="25991"/>
                  </a:lnTo>
                  <a:lnTo>
                    <a:pt x="51661" y="3400"/>
                  </a:lnTo>
                  <a:lnTo>
                    <a:pt x="71196" y="0"/>
                  </a:lnTo>
                  <a:lnTo>
                    <a:pt x="3238956" y="0"/>
                  </a:lnTo>
                  <a:lnTo>
                    <a:pt x="3273681" y="17129"/>
                  </a:lnTo>
                  <a:lnTo>
                    <a:pt x="3286123" y="47167"/>
                  </a:lnTo>
                  <a:lnTo>
                    <a:pt x="3286123" y="1781632"/>
                  </a:lnTo>
                  <a:lnTo>
                    <a:pt x="3268995" y="1816357"/>
                  </a:lnTo>
                  <a:lnTo>
                    <a:pt x="3238956" y="1828799"/>
                  </a:lnTo>
                  <a:close/>
                </a:path>
              </a:pathLst>
            </a:custGeom>
            <a:solidFill>
              <a:srgbClr val="F1F1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5113" y="2695574"/>
              <a:ext cx="3295015" cy="1847850"/>
            </a:xfrm>
            <a:custGeom>
              <a:avLst/>
              <a:gdLst/>
              <a:ahLst/>
              <a:cxnLst/>
              <a:rect l="l" t="t" r="r" b="b"/>
              <a:pathLst>
                <a:path w="3295015" h="1847850">
                  <a:moveTo>
                    <a:pt x="3294761" y="51841"/>
                  </a:moveTo>
                  <a:lnTo>
                    <a:pt x="3293237" y="44284"/>
                  </a:lnTo>
                  <a:lnTo>
                    <a:pt x="3287191" y="29692"/>
                  </a:lnTo>
                  <a:lnTo>
                    <a:pt x="3282848" y="23202"/>
                  </a:lnTo>
                  <a:lnTo>
                    <a:pt x="3277705" y="18059"/>
                  </a:lnTo>
                  <a:lnTo>
                    <a:pt x="3277222" y="17576"/>
                  </a:lnTo>
                  <a:lnTo>
                    <a:pt x="3271596" y="11950"/>
                  </a:lnTo>
                  <a:lnTo>
                    <a:pt x="3265106" y="7620"/>
                  </a:lnTo>
                  <a:lnTo>
                    <a:pt x="3250234" y="1460"/>
                  </a:lnTo>
                  <a:lnTo>
                    <a:pt x="3250044" y="1460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68"/>
                  </a:lnTo>
                  <a:lnTo>
                    <a:pt x="27038" y="17272"/>
                  </a:lnTo>
                  <a:lnTo>
                    <a:pt x="4851" y="47332"/>
                  </a:lnTo>
                  <a:lnTo>
                    <a:pt x="2413" y="54114"/>
                  </a:lnTo>
                  <a:lnTo>
                    <a:pt x="609" y="61341"/>
                  </a:lnTo>
                  <a:lnTo>
                    <a:pt x="0" y="65455"/>
                  </a:lnTo>
                  <a:lnTo>
                    <a:pt x="1092" y="61341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192" y="31572"/>
                  </a:lnTo>
                  <a:lnTo>
                    <a:pt x="3269005" y="37363"/>
                  </a:lnTo>
                  <a:lnTo>
                    <a:pt x="3272752" y="44284"/>
                  </a:lnTo>
                  <a:lnTo>
                    <a:pt x="3274999" y="51841"/>
                  </a:lnTo>
                  <a:lnTo>
                    <a:pt x="3275025" y="52057"/>
                  </a:lnTo>
                  <a:lnTo>
                    <a:pt x="3275749" y="60007"/>
                  </a:lnTo>
                  <a:lnTo>
                    <a:pt x="3275749" y="1787842"/>
                  </a:lnTo>
                  <a:lnTo>
                    <a:pt x="3274999" y="1796021"/>
                  </a:lnTo>
                  <a:lnTo>
                    <a:pt x="3272790" y="1803463"/>
                  </a:lnTo>
                  <a:lnTo>
                    <a:pt x="3269005" y="1810499"/>
                  </a:lnTo>
                  <a:lnTo>
                    <a:pt x="3264192" y="1816290"/>
                  </a:lnTo>
                  <a:lnTo>
                    <a:pt x="3263760" y="1816811"/>
                  </a:lnTo>
                  <a:lnTo>
                    <a:pt x="3257448" y="1822056"/>
                  </a:lnTo>
                  <a:lnTo>
                    <a:pt x="3250514" y="1825802"/>
                  </a:lnTo>
                  <a:lnTo>
                    <a:pt x="3242970" y="1828050"/>
                  </a:lnTo>
                  <a:lnTo>
                    <a:pt x="3234791" y="1828800"/>
                  </a:lnTo>
                  <a:lnTo>
                    <a:pt x="75349" y="1828800"/>
                  </a:lnTo>
                  <a:lnTo>
                    <a:pt x="33007" y="1819186"/>
                  </a:lnTo>
                  <a:lnTo>
                    <a:pt x="1092" y="1786521"/>
                  </a:lnTo>
                  <a:lnTo>
                    <a:pt x="0" y="1782406"/>
                  </a:lnTo>
                  <a:lnTo>
                    <a:pt x="609" y="1786521"/>
                  </a:lnTo>
                  <a:lnTo>
                    <a:pt x="21475" y="1825536"/>
                  </a:lnTo>
                  <a:lnTo>
                    <a:pt x="60490" y="1846402"/>
                  </a:lnTo>
                  <a:lnTo>
                    <a:pt x="75349" y="1847850"/>
                  </a:lnTo>
                  <a:lnTo>
                    <a:pt x="3242754" y="1847850"/>
                  </a:lnTo>
                  <a:lnTo>
                    <a:pt x="3250044" y="1846402"/>
                  </a:lnTo>
                  <a:lnTo>
                    <a:pt x="3250234" y="1846402"/>
                  </a:lnTo>
                  <a:lnTo>
                    <a:pt x="3265106" y="1840242"/>
                  </a:lnTo>
                  <a:lnTo>
                    <a:pt x="3271596" y="1835912"/>
                  </a:lnTo>
                  <a:lnTo>
                    <a:pt x="3277705" y="1829803"/>
                  </a:lnTo>
                  <a:lnTo>
                    <a:pt x="3282848" y="1824647"/>
                  </a:lnTo>
                  <a:lnTo>
                    <a:pt x="3287191" y="1818157"/>
                  </a:lnTo>
                  <a:lnTo>
                    <a:pt x="3293275" y="1803463"/>
                  </a:lnTo>
                  <a:lnTo>
                    <a:pt x="3294761" y="1796021"/>
                  </a:lnTo>
                  <a:lnTo>
                    <a:pt x="3294761" y="51841"/>
                  </a:lnTo>
                  <a:close/>
                </a:path>
              </a:pathLst>
            </a:custGeom>
            <a:solidFill>
              <a:srgbClr val="DEB8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15224" y="2695574"/>
              <a:ext cx="76200" cy="1847850"/>
            </a:xfrm>
            <a:custGeom>
              <a:avLst/>
              <a:gdLst/>
              <a:ahLst/>
              <a:cxnLst/>
              <a:rect l="l" t="t" r="r" b="b"/>
              <a:pathLst>
                <a:path w="76200" h="1847850">
                  <a:moveTo>
                    <a:pt x="76199" y="1847849"/>
                  </a:moveTo>
                  <a:lnTo>
                    <a:pt x="56066" y="1847849"/>
                  </a:lnTo>
                  <a:lnTo>
                    <a:pt x="52164" y="1847465"/>
                  </a:lnTo>
                  <a:lnTo>
                    <a:pt x="14788" y="1827487"/>
                  </a:lnTo>
                  <a:lnTo>
                    <a:pt x="0" y="1791782"/>
                  </a:lnTo>
                  <a:lnTo>
                    <a:pt x="0" y="1787842"/>
                  </a:lnTo>
                  <a:lnTo>
                    <a:pt x="0" y="56067"/>
                  </a:lnTo>
                  <a:lnTo>
                    <a:pt x="14788" y="20361"/>
                  </a:lnTo>
                  <a:lnTo>
                    <a:pt x="52164" y="384"/>
                  </a:lnTo>
                  <a:lnTo>
                    <a:pt x="56066" y="0"/>
                  </a:lnTo>
                  <a:lnTo>
                    <a:pt x="76199" y="0"/>
                  </a:lnTo>
                  <a:lnTo>
                    <a:pt x="76199" y="18478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22666" y="4578474"/>
            <a:ext cx="4180677" cy="1858517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solidFill>
                  <a:srgbClr val="171A1B"/>
                </a:solidFill>
                <a:latin typeface="Tahoma"/>
                <a:cs typeface="Tahoma"/>
              </a:rPr>
              <a:t>Conceptual</a:t>
            </a:r>
            <a:r>
              <a:rPr sz="2634" b="1" spc="160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634" b="1" spc="-32" dirty="0">
                <a:solidFill>
                  <a:srgbClr val="171A1B"/>
                </a:solidFill>
                <a:latin typeface="Tahoma"/>
                <a:cs typeface="Tahoma"/>
              </a:rPr>
              <a:t>Gaps</a:t>
            </a:r>
            <a:endParaRPr sz="2634">
              <a:latin typeface="Tahoma"/>
              <a:cs typeface="Tahoma"/>
            </a:endParaRPr>
          </a:p>
          <a:p>
            <a:pPr marL="20270" marR="8108">
              <a:lnSpc>
                <a:spcPct val="134300"/>
              </a:lnSpc>
              <a:spcBef>
                <a:spcPts val="742"/>
              </a:spcBef>
            </a:pP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Real</a:t>
            </a:r>
            <a:r>
              <a:rPr sz="2155" spc="16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implementations</a:t>
            </a:r>
            <a:r>
              <a:rPr sz="2155" spc="17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may</a:t>
            </a:r>
            <a:r>
              <a:rPr sz="2155" spc="17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differ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from</a:t>
            </a:r>
            <a:r>
              <a:rPr sz="2155" spc="223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theoretical</a:t>
            </a:r>
            <a:r>
              <a:rPr sz="2155" spc="231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BEB;</a:t>
            </a:r>
            <a:r>
              <a:rPr sz="2155" spc="231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physical</a:t>
            </a:r>
            <a:endParaRPr sz="2155">
              <a:latin typeface="Tahoma"/>
              <a:cs typeface="Tahoma"/>
            </a:endParaRPr>
          </a:p>
          <a:p>
            <a:pPr marL="20270">
              <a:spcBef>
                <a:spcPts val="886"/>
              </a:spcBef>
            </a:pP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layer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effects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are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ignored.</a:t>
            </a:r>
            <a:endParaRPr sz="2155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793658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0201" y="541676"/>
            <a:ext cx="19378073" cy="1455487"/>
          </a:xfrm>
          <a:prstGeom prst="rect">
            <a:avLst/>
          </a:prstGeom>
        </p:spPr>
        <p:txBody>
          <a:bodyPr vert="horz" wrap="square" lIns="0" tIns="664171" rIns="0" bIns="0" rtlCol="0">
            <a:spAutoFit/>
          </a:bodyPr>
          <a:lstStyle/>
          <a:p>
            <a:pPr marL="39527">
              <a:spcBef>
                <a:spcPts val="200"/>
              </a:spcBef>
            </a:pPr>
            <a:r>
              <a:rPr spc="-64" dirty="0"/>
              <a:t>Planned</a:t>
            </a:r>
            <a:r>
              <a:rPr spc="-271" dirty="0"/>
              <a:t> </a:t>
            </a:r>
            <a:r>
              <a:rPr spc="-96" dirty="0"/>
              <a:t>Refinements</a:t>
            </a:r>
            <a:r>
              <a:rPr spc="-271" dirty="0"/>
              <a:t> </a:t>
            </a:r>
            <a:r>
              <a:rPr spc="-64" dirty="0"/>
              <a:t>and</a:t>
            </a:r>
            <a:r>
              <a:rPr spc="-263" dirty="0"/>
              <a:t> </a:t>
            </a:r>
            <a:r>
              <a:rPr spc="-168" dirty="0"/>
              <a:t>Role</a:t>
            </a:r>
            <a:r>
              <a:rPr spc="-271" dirty="0"/>
              <a:t> </a:t>
            </a:r>
            <a:r>
              <a:rPr spc="-16" dirty="0"/>
              <a:t>Coordination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041085" y="3800614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41085" y="4332700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1085" y="4864786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16765" y="5703120"/>
            <a:ext cx="21323988" cy="2317617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pc="-40" dirty="0"/>
              <a:t>Next</a:t>
            </a:r>
            <a:r>
              <a:rPr spc="-136" dirty="0"/>
              <a:t> </a:t>
            </a:r>
            <a:r>
              <a:rPr spc="-16" dirty="0"/>
              <a:t>Milestone</a:t>
            </a:r>
          </a:p>
          <a:p>
            <a:pPr marL="457099">
              <a:spcBef>
                <a:spcPts val="2586"/>
              </a:spcBef>
            </a:pPr>
            <a:r>
              <a:rPr sz="2155" spc="96" dirty="0">
                <a:latin typeface="Tahoma"/>
                <a:cs typeface="Tahoma"/>
              </a:rPr>
              <a:t>Complete</a:t>
            </a:r>
            <a:r>
              <a:rPr sz="2155" spc="80" dirty="0">
                <a:latin typeface="Tahoma"/>
                <a:cs typeface="Tahoma"/>
              </a:rPr>
              <a:t> </a:t>
            </a:r>
            <a:r>
              <a:rPr sz="2155" spc="88" dirty="0">
                <a:latin typeface="Tahoma"/>
                <a:cs typeface="Tahoma"/>
              </a:rPr>
              <a:t>Python </a:t>
            </a:r>
            <a:r>
              <a:rPr sz="2155" dirty="0">
                <a:latin typeface="Tahoma"/>
                <a:cs typeface="Tahoma"/>
              </a:rPr>
              <a:t>simulation</a:t>
            </a:r>
            <a:r>
              <a:rPr sz="2155" spc="88" dirty="0">
                <a:latin typeface="Tahoma"/>
                <a:cs typeface="Tahoma"/>
              </a:rPr>
              <a:t> </a:t>
            </a:r>
            <a:r>
              <a:rPr sz="2155" spc="104" dirty="0">
                <a:latin typeface="Tahoma"/>
                <a:cs typeface="Tahoma"/>
              </a:rPr>
              <a:t>of</a:t>
            </a:r>
            <a:r>
              <a:rPr sz="2155" spc="88" dirty="0">
                <a:latin typeface="Tahoma"/>
                <a:cs typeface="Tahoma"/>
              </a:rPr>
              <a:t> </a:t>
            </a:r>
            <a:r>
              <a:rPr sz="2155" spc="-32" dirty="0">
                <a:latin typeface="Tahoma"/>
                <a:cs typeface="Tahoma"/>
              </a:rPr>
              <a:t>BEB.</a:t>
            </a:r>
            <a:endParaRPr sz="2155" dirty="0">
              <a:latin typeface="Tahoma"/>
              <a:cs typeface="Tahoma"/>
            </a:endParaRPr>
          </a:p>
          <a:p>
            <a:pPr marL="457099">
              <a:spcBef>
                <a:spcPts val="1604"/>
              </a:spcBef>
            </a:pPr>
            <a:r>
              <a:rPr sz="2155" spc="104" dirty="0">
                <a:latin typeface="Tahoma"/>
                <a:cs typeface="Tahoma"/>
              </a:rPr>
              <a:t>Compare</a:t>
            </a:r>
            <a:r>
              <a:rPr sz="2155" spc="56" dirty="0">
                <a:latin typeface="Tahoma"/>
                <a:cs typeface="Tahoma"/>
              </a:rPr>
              <a:t> </a:t>
            </a:r>
            <a:r>
              <a:rPr sz="2155" spc="88" dirty="0">
                <a:latin typeface="Tahoma"/>
                <a:cs typeface="Tahoma"/>
              </a:rPr>
              <a:t>randomized</a:t>
            </a:r>
            <a:r>
              <a:rPr sz="2155" spc="64" dirty="0">
                <a:latin typeface="Tahoma"/>
                <a:cs typeface="Tahoma"/>
              </a:rPr>
              <a:t> </a:t>
            </a:r>
            <a:r>
              <a:rPr sz="2155" spc="112" dirty="0">
                <a:latin typeface="Tahoma"/>
                <a:cs typeface="Tahoma"/>
              </a:rPr>
              <a:t>BEB</a:t>
            </a:r>
            <a:r>
              <a:rPr sz="2155" spc="56" dirty="0">
                <a:latin typeface="Tahoma"/>
                <a:cs typeface="Tahoma"/>
              </a:rPr>
              <a:t> </a:t>
            </a:r>
            <a:r>
              <a:rPr sz="2155" spc="32" dirty="0">
                <a:latin typeface="Tahoma"/>
                <a:cs typeface="Tahoma"/>
              </a:rPr>
              <a:t>with</a:t>
            </a:r>
            <a:r>
              <a:rPr sz="2155" spc="64" dirty="0">
                <a:latin typeface="Tahoma"/>
                <a:cs typeface="Tahoma"/>
              </a:rPr>
              <a:t> </a:t>
            </a:r>
            <a:r>
              <a:rPr sz="2155" spc="32" dirty="0">
                <a:latin typeface="Tahoma"/>
                <a:cs typeface="Tahoma"/>
              </a:rPr>
              <a:t>deterministic</a:t>
            </a:r>
            <a:r>
              <a:rPr sz="2155" spc="64" dirty="0">
                <a:latin typeface="Tahoma"/>
                <a:cs typeface="Tahoma"/>
              </a:rPr>
              <a:t> </a:t>
            </a:r>
            <a:r>
              <a:rPr sz="2155" spc="-16" dirty="0">
                <a:latin typeface="Tahoma"/>
                <a:cs typeface="Tahoma"/>
              </a:rPr>
              <a:t>waiting.</a:t>
            </a:r>
            <a:endParaRPr sz="2155" dirty="0">
              <a:latin typeface="Tahoma"/>
              <a:cs typeface="Tahoma"/>
            </a:endParaRPr>
          </a:p>
          <a:p>
            <a:pPr marL="457099" marR="204732">
              <a:lnSpc>
                <a:spcPct val="134300"/>
              </a:lnSpc>
              <a:spcBef>
                <a:spcPts val="718"/>
              </a:spcBef>
            </a:pPr>
            <a:r>
              <a:rPr sz="2155" spc="72" dirty="0">
                <a:latin typeface="Tahoma"/>
                <a:cs typeface="Tahoma"/>
              </a:rPr>
              <a:t>Generate</a:t>
            </a:r>
            <a:r>
              <a:rPr sz="2155" spc="112" dirty="0">
                <a:latin typeface="Tahoma"/>
                <a:cs typeface="Tahoma"/>
              </a:rPr>
              <a:t> </a:t>
            </a:r>
            <a:r>
              <a:rPr sz="2155" spc="96" dirty="0">
                <a:latin typeface="Tahoma"/>
                <a:cs typeface="Tahoma"/>
              </a:rPr>
              <a:t>graphs</a:t>
            </a:r>
            <a:r>
              <a:rPr sz="2155" spc="120" dirty="0">
                <a:latin typeface="Tahoma"/>
                <a:cs typeface="Tahoma"/>
              </a:rPr>
              <a:t> </a:t>
            </a:r>
            <a:r>
              <a:rPr sz="2155" dirty="0">
                <a:latin typeface="Tahoma"/>
                <a:cs typeface="Tahoma"/>
              </a:rPr>
              <a:t>for</a:t>
            </a:r>
            <a:r>
              <a:rPr sz="2155" spc="120" dirty="0">
                <a:latin typeface="Tahoma"/>
                <a:cs typeface="Tahoma"/>
              </a:rPr>
              <a:t> </a:t>
            </a:r>
            <a:r>
              <a:rPr sz="2155" spc="80" dirty="0">
                <a:latin typeface="Tahoma"/>
                <a:cs typeface="Tahoma"/>
              </a:rPr>
              <a:t>collision</a:t>
            </a:r>
            <a:r>
              <a:rPr sz="2155" spc="120" dirty="0">
                <a:latin typeface="Tahoma"/>
                <a:cs typeface="Tahoma"/>
              </a:rPr>
              <a:t> </a:t>
            </a:r>
            <a:r>
              <a:rPr sz="2155" dirty="0">
                <a:latin typeface="Tahoma"/>
                <a:cs typeface="Tahoma"/>
              </a:rPr>
              <a:t>probability,</a:t>
            </a:r>
            <a:r>
              <a:rPr sz="2155" spc="120" dirty="0">
                <a:latin typeface="Tahoma"/>
                <a:cs typeface="Tahoma"/>
              </a:rPr>
              <a:t> </a:t>
            </a:r>
            <a:r>
              <a:rPr sz="2155" dirty="0">
                <a:latin typeface="Tahoma"/>
                <a:cs typeface="Tahoma"/>
              </a:rPr>
              <a:t>delay,</a:t>
            </a:r>
            <a:r>
              <a:rPr sz="2155" spc="112" dirty="0">
                <a:latin typeface="Tahoma"/>
                <a:cs typeface="Tahoma"/>
              </a:rPr>
              <a:t> </a:t>
            </a:r>
            <a:r>
              <a:rPr sz="2155" spc="40" dirty="0">
                <a:latin typeface="Tahoma"/>
                <a:cs typeface="Tahoma"/>
              </a:rPr>
              <a:t>and </a:t>
            </a:r>
            <a:r>
              <a:rPr sz="2155" spc="-16" dirty="0">
                <a:latin typeface="Tahoma"/>
                <a:cs typeface="Tahoma"/>
              </a:rPr>
              <a:t>throughput.</a:t>
            </a:r>
            <a:endParaRPr sz="2155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1085" y="6719487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085" y="7251573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41085" y="7783659"/>
            <a:ext cx="91215" cy="91215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49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171A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7074" y="2970288"/>
            <a:ext cx="6773204" cy="2172577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dirty="0">
                <a:latin typeface="Tahoma"/>
                <a:cs typeface="Tahoma"/>
              </a:rPr>
              <a:t>Modeling</a:t>
            </a:r>
            <a:r>
              <a:rPr sz="2634" b="1" spc="-16" dirty="0">
                <a:latin typeface="Tahoma"/>
                <a:cs typeface="Tahoma"/>
              </a:rPr>
              <a:t> Tasks</a:t>
            </a:r>
            <a:endParaRPr sz="2634" dirty="0">
              <a:latin typeface="Tahoma"/>
              <a:cs typeface="Tahoma"/>
            </a:endParaRPr>
          </a:p>
          <a:p>
            <a:pPr marL="457099" marR="8108">
              <a:lnSpc>
                <a:spcPct val="162000"/>
              </a:lnSpc>
              <a:spcBef>
                <a:spcPts val="982"/>
              </a:spcBef>
            </a:pP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Validate</a:t>
            </a:r>
            <a:r>
              <a:rPr sz="2155" spc="279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simulation</a:t>
            </a:r>
            <a:r>
              <a:rPr sz="2155" spc="28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with</a:t>
            </a:r>
            <a:r>
              <a:rPr sz="2155" spc="28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theoretical</a:t>
            </a:r>
            <a:r>
              <a:rPr sz="2155" spc="28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expectations.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Vary</a:t>
            </a:r>
            <a:r>
              <a:rPr sz="2155" spc="8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number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of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12" dirty="0">
                <a:solidFill>
                  <a:srgbClr val="171A1B"/>
                </a:solidFill>
                <a:latin typeface="Tahoma"/>
                <a:cs typeface="Tahoma"/>
              </a:rPr>
              <a:t>nodes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and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study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behavior.</a:t>
            </a:r>
            <a:endParaRPr sz="2155" dirty="0">
              <a:latin typeface="Tahoma"/>
              <a:cs typeface="Tahoma"/>
            </a:endParaRPr>
          </a:p>
          <a:p>
            <a:pPr marL="457099">
              <a:spcBef>
                <a:spcPts val="1604"/>
              </a:spcBef>
            </a:pP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Analyze</a:t>
            </a:r>
            <a:r>
              <a:rPr sz="2155" spc="64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impact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of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contention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window</a:t>
            </a:r>
            <a:r>
              <a:rPr sz="2155" spc="7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6" dirty="0">
                <a:solidFill>
                  <a:srgbClr val="171A1B"/>
                </a:solidFill>
                <a:latin typeface="Tahoma"/>
                <a:cs typeface="Tahoma"/>
              </a:rPr>
              <a:t>growth.</a:t>
            </a:r>
            <a:endParaRPr sz="2155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72674" y="2891002"/>
            <a:ext cx="3013128" cy="432999"/>
          </a:xfrm>
          <a:prstGeom prst="rect">
            <a:avLst/>
          </a:prstGeom>
        </p:spPr>
        <p:txBody>
          <a:bodyPr vert="horz" wrap="square" lIns="0" tIns="27364" rIns="0" bIns="0" rtlCol="0">
            <a:spAutoFit/>
          </a:bodyPr>
          <a:lstStyle/>
          <a:p>
            <a:pPr marL="20270">
              <a:spcBef>
                <a:spcPts val="215"/>
              </a:spcBef>
            </a:pPr>
            <a:r>
              <a:rPr sz="2634" b="1" spc="-48" dirty="0">
                <a:latin typeface="Tahoma"/>
                <a:cs typeface="Tahoma"/>
              </a:rPr>
              <a:t>Role</a:t>
            </a:r>
            <a:r>
              <a:rPr sz="2634" b="1" spc="-144" dirty="0">
                <a:latin typeface="Tahoma"/>
                <a:cs typeface="Tahoma"/>
              </a:rPr>
              <a:t> </a:t>
            </a:r>
            <a:r>
              <a:rPr sz="2634" b="1" spc="-16" dirty="0">
                <a:latin typeface="Tahoma"/>
                <a:cs typeface="Tahoma"/>
              </a:rPr>
              <a:t>Coordination</a:t>
            </a:r>
            <a:endParaRPr sz="2634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493653" y="3648591"/>
            <a:ext cx="3770211" cy="2113142"/>
            <a:chOff x="5934073" y="2285999"/>
            <a:chExt cx="2362200" cy="1323975"/>
          </a:xfrm>
        </p:grpSpPr>
        <p:sp>
          <p:nvSpPr>
            <p:cNvPr id="13" name="object 13"/>
            <p:cNvSpPr/>
            <p:nvPr/>
          </p:nvSpPr>
          <p:spPr>
            <a:xfrm>
              <a:off x="5938836" y="2290762"/>
              <a:ext cx="2352675" cy="1314450"/>
            </a:xfrm>
            <a:custGeom>
              <a:avLst/>
              <a:gdLst/>
              <a:ahLst/>
              <a:cxnLst/>
              <a:rect l="l" t="t" r="r" b="b"/>
              <a:pathLst>
                <a:path w="2352675" h="1314450">
                  <a:moveTo>
                    <a:pt x="2301057" y="1314449"/>
                  </a:moveTo>
                  <a:lnTo>
                    <a:pt x="51617" y="1314449"/>
                  </a:lnTo>
                  <a:lnTo>
                    <a:pt x="48024" y="1314095"/>
                  </a:lnTo>
                  <a:lnTo>
                    <a:pt x="13615" y="1295703"/>
                  </a:lnTo>
                  <a:lnTo>
                    <a:pt x="0" y="1262832"/>
                  </a:lnTo>
                  <a:lnTo>
                    <a:pt x="0" y="12592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01057" y="0"/>
                  </a:lnTo>
                  <a:lnTo>
                    <a:pt x="2339059" y="18745"/>
                  </a:lnTo>
                  <a:lnTo>
                    <a:pt x="2352674" y="51617"/>
                  </a:lnTo>
                  <a:lnTo>
                    <a:pt x="2352674" y="1262832"/>
                  </a:lnTo>
                  <a:lnTo>
                    <a:pt x="2333927" y="1300833"/>
                  </a:lnTo>
                  <a:lnTo>
                    <a:pt x="2304649" y="1314095"/>
                  </a:lnTo>
                  <a:lnTo>
                    <a:pt x="2301057" y="1314449"/>
                  </a:lnTo>
                  <a:close/>
                </a:path>
              </a:pathLst>
            </a:custGeom>
            <a:solidFill>
              <a:srgbClr val="F9D1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38836" y="2290762"/>
              <a:ext cx="2352675" cy="1314450"/>
            </a:xfrm>
            <a:custGeom>
              <a:avLst/>
              <a:gdLst/>
              <a:ahLst/>
              <a:cxnLst/>
              <a:rect l="l" t="t" r="r" b="b"/>
              <a:pathLst>
                <a:path w="2352675" h="1314450">
                  <a:moveTo>
                    <a:pt x="0" y="12592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7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297430" y="0"/>
                  </a:lnTo>
                  <a:lnTo>
                    <a:pt x="2301057" y="0"/>
                  </a:lnTo>
                  <a:lnTo>
                    <a:pt x="2304649" y="353"/>
                  </a:lnTo>
                  <a:lnTo>
                    <a:pt x="2308207" y="1061"/>
                  </a:lnTo>
                  <a:lnTo>
                    <a:pt x="2311765" y="1769"/>
                  </a:lnTo>
                  <a:lnTo>
                    <a:pt x="2315219" y="2817"/>
                  </a:lnTo>
                  <a:lnTo>
                    <a:pt x="2318570" y="4205"/>
                  </a:lnTo>
                  <a:lnTo>
                    <a:pt x="2321922" y="5593"/>
                  </a:lnTo>
                  <a:lnTo>
                    <a:pt x="2336494" y="16180"/>
                  </a:lnTo>
                  <a:lnTo>
                    <a:pt x="2339059" y="18745"/>
                  </a:lnTo>
                  <a:lnTo>
                    <a:pt x="2341349" y="21536"/>
                  </a:lnTo>
                  <a:lnTo>
                    <a:pt x="2343364" y="24552"/>
                  </a:lnTo>
                  <a:lnTo>
                    <a:pt x="2345379" y="27568"/>
                  </a:lnTo>
                  <a:lnTo>
                    <a:pt x="2352675" y="55244"/>
                  </a:lnTo>
                  <a:lnTo>
                    <a:pt x="2352675" y="1259204"/>
                  </a:lnTo>
                  <a:lnTo>
                    <a:pt x="2343363" y="1289897"/>
                  </a:lnTo>
                  <a:lnTo>
                    <a:pt x="2341348" y="1292913"/>
                  </a:lnTo>
                  <a:lnTo>
                    <a:pt x="2318569" y="1310244"/>
                  </a:lnTo>
                  <a:lnTo>
                    <a:pt x="2315218" y="1311632"/>
                  </a:lnTo>
                  <a:lnTo>
                    <a:pt x="2311764" y="1312680"/>
                  </a:lnTo>
                  <a:lnTo>
                    <a:pt x="2308207" y="1313388"/>
                  </a:lnTo>
                  <a:lnTo>
                    <a:pt x="2304649" y="1314095"/>
                  </a:lnTo>
                  <a:lnTo>
                    <a:pt x="2301057" y="1314449"/>
                  </a:lnTo>
                  <a:lnTo>
                    <a:pt x="2297430" y="1314449"/>
                  </a:lnTo>
                  <a:lnTo>
                    <a:pt x="55245" y="1314449"/>
                  </a:lnTo>
                  <a:lnTo>
                    <a:pt x="34103" y="1310244"/>
                  </a:lnTo>
                  <a:lnTo>
                    <a:pt x="30752" y="1308856"/>
                  </a:lnTo>
                  <a:lnTo>
                    <a:pt x="9309" y="1289897"/>
                  </a:lnTo>
                  <a:lnTo>
                    <a:pt x="7294" y="1286880"/>
                  </a:lnTo>
                  <a:lnTo>
                    <a:pt x="5592" y="1283697"/>
                  </a:lnTo>
                  <a:lnTo>
                    <a:pt x="4205" y="1280345"/>
                  </a:lnTo>
                  <a:lnTo>
                    <a:pt x="2816" y="1276994"/>
                  </a:lnTo>
                  <a:lnTo>
                    <a:pt x="1769" y="1273540"/>
                  </a:lnTo>
                  <a:lnTo>
                    <a:pt x="1061" y="1269982"/>
                  </a:lnTo>
                  <a:lnTo>
                    <a:pt x="354" y="1266424"/>
                  </a:lnTo>
                  <a:lnTo>
                    <a:pt x="0" y="1262832"/>
                  </a:lnTo>
                  <a:lnTo>
                    <a:pt x="0" y="1259204"/>
                  </a:lnTo>
                  <a:close/>
                </a:path>
              </a:pathLst>
            </a:custGeom>
            <a:ln w="9524">
              <a:solidFill>
                <a:srgbClr val="DEB8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15048" y="24669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50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9" y="433069"/>
                  </a:lnTo>
                  <a:lnTo>
                    <a:pt x="38662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8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1" y="107292"/>
                  </a:lnTo>
                  <a:lnTo>
                    <a:pt x="81281" y="69369"/>
                  </a:lnTo>
                  <a:lnTo>
                    <a:pt x="121299" y="38662"/>
                  </a:lnTo>
                  <a:lnTo>
                    <a:pt x="166540" y="16352"/>
                  </a:lnTo>
                  <a:lnTo>
                    <a:pt x="215264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1" y="22799"/>
                  </a:lnTo>
                  <a:lnTo>
                    <a:pt x="407056" y="48021"/>
                  </a:lnTo>
                  <a:lnTo>
                    <a:pt x="444980" y="81280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50" y="248751"/>
                  </a:lnTo>
                  <a:lnTo>
                    <a:pt x="514350" y="265598"/>
                  </a:lnTo>
                  <a:lnTo>
                    <a:pt x="507764" y="315607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8" y="444980"/>
                  </a:lnTo>
                  <a:lnTo>
                    <a:pt x="393049" y="475687"/>
                  </a:lnTo>
                  <a:lnTo>
                    <a:pt x="347808" y="497996"/>
                  </a:lnTo>
                  <a:lnTo>
                    <a:pt x="299086" y="511051"/>
                  </a:lnTo>
                  <a:lnTo>
                    <a:pt x="274000" y="513937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57741" y="2614535"/>
              <a:ext cx="232410" cy="222250"/>
            </a:xfrm>
            <a:custGeom>
              <a:avLst/>
              <a:gdLst/>
              <a:ahLst/>
              <a:cxnLst/>
              <a:rect l="l" t="t" r="r" b="b"/>
              <a:pathLst>
                <a:path w="232410" h="222250">
                  <a:moveTo>
                    <a:pt x="67787" y="219222"/>
                  </a:moveTo>
                  <a:lnTo>
                    <a:pt x="35231" y="221862"/>
                  </a:lnTo>
                  <a:lnTo>
                    <a:pt x="15237" y="221898"/>
                  </a:lnTo>
                </a:path>
                <a:path w="232410" h="222250">
                  <a:moveTo>
                    <a:pt x="227856" y="68190"/>
                  </a:moveTo>
                  <a:lnTo>
                    <a:pt x="217071" y="72702"/>
                  </a:lnTo>
                  <a:lnTo>
                    <a:pt x="213628" y="72741"/>
                  </a:lnTo>
                </a:path>
                <a:path w="232410" h="222250">
                  <a:moveTo>
                    <a:pt x="67665" y="3045"/>
                  </a:moveTo>
                  <a:lnTo>
                    <a:pt x="34807" y="293"/>
                  </a:lnTo>
                  <a:lnTo>
                    <a:pt x="15237" y="291"/>
                  </a:lnTo>
                </a:path>
                <a:path w="232410" h="222250">
                  <a:moveTo>
                    <a:pt x="195709" y="166474"/>
                  </a:moveTo>
                  <a:lnTo>
                    <a:pt x="183613" y="179628"/>
                  </a:lnTo>
                  <a:lnTo>
                    <a:pt x="183606" y="182775"/>
                  </a:lnTo>
                </a:path>
                <a:path w="232410" h="222250">
                  <a:moveTo>
                    <a:pt x="183661" y="214920"/>
                  </a:moveTo>
                  <a:lnTo>
                    <a:pt x="201435" y="221794"/>
                  </a:lnTo>
                  <a:lnTo>
                    <a:pt x="215595" y="221761"/>
                  </a:lnTo>
                  <a:lnTo>
                    <a:pt x="224824" y="211818"/>
                  </a:lnTo>
                  <a:lnTo>
                    <a:pt x="224918" y="210546"/>
                  </a:lnTo>
                </a:path>
                <a:path w="232410" h="222250">
                  <a:moveTo>
                    <a:pt x="224799" y="176466"/>
                  </a:moveTo>
                  <a:lnTo>
                    <a:pt x="224573" y="174558"/>
                  </a:lnTo>
                  <a:lnTo>
                    <a:pt x="223949" y="172584"/>
                  </a:lnTo>
                  <a:lnTo>
                    <a:pt x="221885" y="169185"/>
                  </a:lnTo>
                </a:path>
                <a:path w="232410" h="222250">
                  <a:moveTo>
                    <a:pt x="368" y="164488"/>
                  </a:moveTo>
                  <a:lnTo>
                    <a:pt x="15871" y="149595"/>
                  </a:lnTo>
                  <a:lnTo>
                    <a:pt x="20286" y="149578"/>
                  </a:lnTo>
                </a:path>
                <a:path w="232410" h="222250">
                  <a:moveTo>
                    <a:pt x="58147" y="149535"/>
                  </a:moveTo>
                  <a:lnTo>
                    <a:pt x="73259" y="165421"/>
                  </a:lnTo>
                  <a:lnTo>
                    <a:pt x="73273" y="169208"/>
                  </a:lnTo>
                </a:path>
                <a:path w="232410" h="222250">
                  <a:moveTo>
                    <a:pt x="73202" y="208018"/>
                  </a:moveTo>
                  <a:lnTo>
                    <a:pt x="72827" y="210884"/>
                  </a:lnTo>
                  <a:lnTo>
                    <a:pt x="72245" y="212841"/>
                  </a:lnTo>
                  <a:lnTo>
                    <a:pt x="70781" y="215808"/>
                  </a:lnTo>
                  <a:lnTo>
                    <a:pt x="68999" y="218352"/>
                  </a:lnTo>
                </a:path>
                <a:path w="232410" h="222250">
                  <a:moveTo>
                    <a:pt x="158388" y="14859"/>
                  </a:moveTo>
                  <a:lnTo>
                    <a:pt x="173559" y="259"/>
                  </a:lnTo>
                  <a:lnTo>
                    <a:pt x="177345" y="205"/>
                  </a:lnTo>
                </a:path>
                <a:path w="232410" h="222250">
                  <a:moveTo>
                    <a:pt x="231414" y="59647"/>
                  </a:moveTo>
                  <a:lnTo>
                    <a:pt x="231020" y="62169"/>
                  </a:lnTo>
                  <a:lnTo>
                    <a:pt x="230232" y="64511"/>
                  </a:lnTo>
                  <a:lnTo>
                    <a:pt x="228536" y="67477"/>
                  </a:lnTo>
                  <a:lnTo>
                    <a:pt x="227856" y="68190"/>
                  </a:lnTo>
                </a:path>
                <a:path w="232410" h="222250">
                  <a:moveTo>
                    <a:pt x="15237" y="291"/>
                  </a:moveTo>
                  <a:lnTo>
                    <a:pt x="382" y="15876"/>
                  </a:lnTo>
                  <a:lnTo>
                    <a:pt x="381" y="20288"/>
                  </a:lnTo>
                </a:path>
                <a:path w="232410" h="222250">
                  <a:moveTo>
                    <a:pt x="58147" y="72664"/>
                  </a:moveTo>
                  <a:lnTo>
                    <a:pt x="73286" y="56570"/>
                  </a:lnTo>
                  <a:lnTo>
                    <a:pt x="73281" y="52785"/>
                  </a:lnTo>
                </a:path>
                <a:path w="232410" h="222250">
                  <a:moveTo>
                    <a:pt x="73241" y="13978"/>
                  </a:moveTo>
                  <a:lnTo>
                    <a:pt x="72871" y="11121"/>
                  </a:lnTo>
                  <a:lnTo>
                    <a:pt x="72260" y="9156"/>
                  </a:lnTo>
                  <a:lnTo>
                    <a:pt x="71300" y="7194"/>
                  </a:lnTo>
                  <a:lnTo>
                    <a:pt x="68870" y="3880"/>
                  </a:lnTo>
                </a:path>
                <a:path w="232410" h="222250">
                  <a:moveTo>
                    <a:pt x="220659" y="168413"/>
                  </a:moveTo>
                  <a:lnTo>
                    <a:pt x="195709" y="166474"/>
                  </a:lnTo>
                </a:path>
                <a:path w="232410" h="222250">
                  <a:moveTo>
                    <a:pt x="220659" y="168413"/>
                  </a:moveTo>
                  <a:lnTo>
                    <a:pt x="221885" y="169185"/>
                  </a:lnTo>
                </a:path>
                <a:path w="232410" h="222250">
                  <a:moveTo>
                    <a:pt x="115975" y="188812"/>
                  </a:moveTo>
                  <a:lnTo>
                    <a:pt x="116034" y="149289"/>
                  </a:lnTo>
                </a:path>
                <a:path w="232410" h="222250">
                  <a:moveTo>
                    <a:pt x="67787" y="219222"/>
                  </a:moveTo>
                  <a:lnTo>
                    <a:pt x="68999" y="218352"/>
                  </a:lnTo>
                </a:path>
                <a:path w="232410" h="222250">
                  <a:moveTo>
                    <a:pt x="67665" y="3045"/>
                  </a:moveTo>
                  <a:lnTo>
                    <a:pt x="68870" y="3880"/>
                  </a:lnTo>
                </a:path>
                <a:path w="232410" h="222250">
                  <a:moveTo>
                    <a:pt x="115610" y="110989"/>
                  </a:moveTo>
                  <a:lnTo>
                    <a:pt x="116119" y="32647"/>
                  </a:lnTo>
                </a:path>
                <a:path w="232410" h="222250">
                  <a:moveTo>
                    <a:pt x="35704" y="111167"/>
                  </a:moveTo>
                  <a:lnTo>
                    <a:pt x="115610" y="110989"/>
                  </a:lnTo>
                </a:path>
                <a:path w="232410" h="222250">
                  <a:moveTo>
                    <a:pt x="196959" y="111168"/>
                  </a:moveTo>
                  <a:lnTo>
                    <a:pt x="161995" y="111311"/>
                  </a:lnTo>
                  <a:lnTo>
                    <a:pt x="161748" y="148636"/>
                  </a:lnTo>
                </a:path>
                <a:path w="232410" h="222250">
                  <a:moveTo>
                    <a:pt x="143032" y="148914"/>
                  </a:moveTo>
                  <a:lnTo>
                    <a:pt x="161748" y="148636"/>
                  </a:lnTo>
                </a:path>
                <a:path w="232410" h="222250">
                  <a:moveTo>
                    <a:pt x="15241" y="221977"/>
                  </a:moveTo>
                  <a:lnTo>
                    <a:pt x="12907" y="222076"/>
                  </a:lnTo>
                  <a:lnTo>
                    <a:pt x="10679" y="221635"/>
                  </a:lnTo>
                  <a:lnTo>
                    <a:pt x="8559" y="220654"/>
                  </a:lnTo>
                  <a:lnTo>
                    <a:pt x="6439" y="219672"/>
                  </a:lnTo>
                  <a:lnTo>
                    <a:pt x="0" y="207909"/>
                  </a:lnTo>
                  <a:lnTo>
                    <a:pt x="119" y="205642"/>
                  </a:lnTo>
                  <a:lnTo>
                    <a:pt x="789" y="203404"/>
                  </a:lnTo>
                </a:path>
                <a:path w="232410" h="222250">
                  <a:moveTo>
                    <a:pt x="388" y="203283"/>
                  </a:moveTo>
                  <a:lnTo>
                    <a:pt x="368" y="164488"/>
                  </a:lnTo>
                </a:path>
                <a:path w="232410" h="222250">
                  <a:moveTo>
                    <a:pt x="213628" y="72741"/>
                  </a:moveTo>
                  <a:lnTo>
                    <a:pt x="173874" y="72757"/>
                  </a:lnTo>
                </a:path>
                <a:path w="232410" h="222250">
                  <a:moveTo>
                    <a:pt x="20286" y="149578"/>
                  </a:moveTo>
                  <a:lnTo>
                    <a:pt x="58147" y="149535"/>
                  </a:lnTo>
                </a:path>
                <a:path w="232410" h="222250">
                  <a:moveTo>
                    <a:pt x="183606" y="182775"/>
                  </a:moveTo>
                  <a:lnTo>
                    <a:pt x="183661" y="214920"/>
                  </a:lnTo>
                </a:path>
                <a:path w="232410" h="222250">
                  <a:moveTo>
                    <a:pt x="173866" y="72684"/>
                  </a:moveTo>
                  <a:lnTo>
                    <a:pt x="171571" y="72926"/>
                  </a:lnTo>
                  <a:lnTo>
                    <a:pt x="169351" y="72622"/>
                  </a:lnTo>
                  <a:lnTo>
                    <a:pt x="167206" y="71770"/>
                  </a:lnTo>
                  <a:lnTo>
                    <a:pt x="165061" y="70918"/>
                  </a:lnTo>
                  <a:lnTo>
                    <a:pt x="158701" y="61864"/>
                  </a:lnTo>
                  <a:lnTo>
                    <a:pt x="158184" y="59615"/>
                  </a:lnTo>
                  <a:lnTo>
                    <a:pt x="158219" y="57374"/>
                  </a:lnTo>
                  <a:lnTo>
                    <a:pt x="158806" y="55142"/>
                  </a:lnTo>
                </a:path>
                <a:path w="232410" h="222250">
                  <a:moveTo>
                    <a:pt x="224918" y="210546"/>
                  </a:moveTo>
                  <a:lnTo>
                    <a:pt x="224799" y="176466"/>
                  </a:lnTo>
                </a:path>
                <a:path w="232410" h="222250">
                  <a:moveTo>
                    <a:pt x="158488" y="55059"/>
                  </a:moveTo>
                  <a:lnTo>
                    <a:pt x="158388" y="14859"/>
                  </a:lnTo>
                </a:path>
                <a:path w="232410" h="222250">
                  <a:moveTo>
                    <a:pt x="177345" y="205"/>
                  </a:moveTo>
                  <a:lnTo>
                    <a:pt x="216913" y="132"/>
                  </a:lnTo>
                </a:path>
                <a:path w="232410" h="222250">
                  <a:moveTo>
                    <a:pt x="216911" y="73"/>
                  </a:moveTo>
                  <a:lnTo>
                    <a:pt x="231788" y="13931"/>
                  </a:lnTo>
                  <a:lnTo>
                    <a:pt x="231674" y="16150"/>
                  </a:lnTo>
                  <a:lnTo>
                    <a:pt x="231026" y="18343"/>
                  </a:lnTo>
                </a:path>
                <a:path w="232410" h="222250">
                  <a:moveTo>
                    <a:pt x="73273" y="169208"/>
                  </a:moveTo>
                  <a:lnTo>
                    <a:pt x="73202" y="208018"/>
                  </a:lnTo>
                </a:path>
                <a:path w="232410" h="222250">
                  <a:moveTo>
                    <a:pt x="381" y="20288"/>
                  </a:moveTo>
                  <a:lnTo>
                    <a:pt x="379" y="58136"/>
                  </a:lnTo>
                  <a:lnTo>
                    <a:pt x="1605" y="64706"/>
                  </a:lnTo>
                  <a:lnTo>
                    <a:pt x="6441" y="69812"/>
                  </a:lnTo>
                  <a:lnTo>
                    <a:pt x="12986" y="72704"/>
                  </a:lnTo>
                  <a:lnTo>
                    <a:pt x="19339" y="72631"/>
                  </a:lnTo>
                </a:path>
                <a:path w="232410" h="222250">
                  <a:moveTo>
                    <a:pt x="231421" y="18460"/>
                  </a:moveTo>
                  <a:lnTo>
                    <a:pt x="231414" y="59647"/>
                  </a:lnTo>
                </a:path>
                <a:path w="232410" h="222250">
                  <a:moveTo>
                    <a:pt x="19339" y="72631"/>
                  </a:moveTo>
                  <a:lnTo>
                    <a:pt x="58147" y="72664"/>
                  </a:lnTo>
                </a:path>
                <a:path w="232410" h="222250">
                  <a:moveTo>
                    <a:pt x="73281" y="52785"/>
                  </a:moveTo>
                  <a:lnTo>
                    <a:pt x="73241" y="13978"/>
                  </a:lnTo>
                </a:path>
              </a:pathLst>
            </a:custGeom>
            <a:ln w="1023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761520" y="5042150"/>
            <a:ext cx="2389827" cy="352097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>
              <a:spcBef>
                <a:spcPts val="160"/>
              </a:spcBef>
            </a:pP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Simulation</a:t>
            </a:r>
            <a:r>
              <a:rPr sz="2155" spc="519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04" dirty="0">
                <a:solidFill>
                  <a:srgbClr val="171A1B"/>
                </a:solidFill>
                <a:latin typeface="Tahoma"/>
                <a:cs typeface="Tahoma"/>
              </a:rPr>
              <a:t>Coding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537510" y="3648591"/>
            <a:ext cx="3785413" cy="2113142"/>
            <a:chOff x="8467723" y="2285999"/>
            <a:chExt cx="2371725" cy="1323975"/>
          </a:xfrm>
        </p:grpSpPr>
        <p:sp>
          <p:nvSpPr>
            <p:cNvPr id="19" name="object 19"/>
            <p:cNvSpPr/>
            <p:nvPr/>
          </p:nvSpPr>
          <p:spPr>
            <a:xfrm>
              <a:off x="8472485" y="2290762"/>
              <a:ext cx="2362200" cy="1314450"/>
            </a:xfrm>
            <a:custGeom>
              <a:avLst/>
              <a:gdLst/>
              <a:ahLst/>
              <a:cxnLst/>
              <a:rect l="l" t="t" r="r" b="b"/>
              <a:pathLst>
                <a:path w="2362200" h="1314450">
                  <a:moveTo>
                    <a:pt x="2310582" y="1314449"/>
                  </a:moveTo>
                  <a:lnTo>
                    <a:pt x="51617" y="1314449"/>
                  </a:lnTo>
                  <a:lnTo>
                    <a:pt x="48024" y="1314095"/>
                  </a:lnTo>
                  <a:lnTo>
                    <a:pt x="13615" y="1295703"/>
                  </a:lnTo>
                  <a:lnTo>
                    <a:pt x="0" y="1262832"/>
                  </a:lnTo>
                  <a:lnTo>
                    <a:pt x="0" y="1259204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10582" y="0"/>
                  </a:lnTo>
                  <a:lnTo>
                    <a:pt x="2348582" y="18745"/>
                  </a:lnTo>
                  <a:lnTo>
                    <a:pt x="2362200" y="51617"/>
                  </a:lnTo>
                  <a:lnTo>
                    <a:pt x="2362200" y="1262832"/>
                  </a:lnTo>
                  <a:lnTo>
                    <a:pt x="2343453" y="1300833"/>
                  </a:lnTo>
                  <a:lnTo>
                    <a:pt x="2314174" y="1314095"/>
                  </a:lnTo>
                  <a:lnTo>
                    <a:pt x="2310582" y="1314449"/>
                  </a:lnTo>
                  <a:close/>
                </a:path>
              </a:pathLst>
            </a:custGeom>
            <a:solidFill>
              <a:srgbClr val="F9D1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72485" y="2290762"/>
              <a:ext cx="2362200" cy="1314450"/>
            </a:xfrm>
            <a:custGeom>
              <a:avLst/>
              <a:gdLst/>
              <a:ahLst/>
              <a:cxnLst/>
              <a:rect l="l" t="t" r="r" b="b"/>
              <a:pathLst>
                <a:path w="2362200" h="1314450">
                  <a:moveTo>
                    <a:pt x="0" y="1259204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7"/>
                  </a:lnTo>
                  <a:lnTo>
                    <a:pt x="1768" y="40909"/>
                  </a:lnTo>
                  <a:lnTo>
                    <a:pt x="2816" y="37454"/>
                  </a:lnTo>
                  <a:lnTo>
                    <a:pt x="4204" y="34103"/>
                  </a:lnTo>
                  <a:lnTo>
                    <a:pt x="5592" y="30752"/>
                  </a:lnTo>
                  <a:lnTo>
                    <a:pt x="7294" y="27568"/>
                  </a:lnTo>
                  <a:lnTo>
                    <a:pt x="9309" y="24552"/>
                  </a:lnTo>
                  <a:lnTo>
                    <a:pt x="11325" y="21536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10"/>
                  </a:lnTo>
                  <a:lnTo>
                    <a:pt x="27568" y="7294"/>
                  </a:lnTo>
                  <a:lnTo>
                    <a:pt x="30751" y="5593"/>
                  </a:lnTo>
                  <a:lnTo>
                    <a:pt x="34103" y="4205"/>
                  </a:lnTo>
                  <a:lnTo>
                    <a:pt x="37454" y="2817"/>
                  </a:lnTo>
                  <a:lnTo>
                    <a:pt x="40909" y="1769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06954" y="0"/>
                  </a:lnTo>
                  <a:lnTo>
                    <a:pt x="2310582" y="0"/>
                  </a:lnTo>
                  <a:lnTo>
                    <a:pt x="2314175" y="353"/>
                  </a:lnTo>
                  <a:lnTo>
                    <a:pt x="2317732" y="1061"/>
                  </a:lnTo>
                  <a:lnTo>
                    <a:pt x="2321288" y="1769"/>
                  </a:lnTo>
                  <a:lnTo>
                    <a:pt x="2324743" y="2817"/>
                  </a:lnTo>
                  <a:lnTo>
                    <a:pt x="2328094" y="4205"/>
                  </a:lnTo>
                  <a:lnTo>
                    <a:pt x="2331446" y="5593"/>
                  </a:lnTo>
                  <a:lnTo>
                    <a:pt x="2334629" y="7294"/>
                  </a:lnTo>
                  <a:lnTo>
                    <a:pt x="2337646" y="9310"/>
                  </a:lnTo>
                  <a:lnTo>
                    <a:pt x="2340663" y="11325"/>
                  </a:lnTo>
                  <a:lnTo>
                    <a:pt x="2343453" y="13615"/>
                  </a:lnTo>
                  <a:lnTo>
                    <a:pt x="2346017" y="16180"/>
                  </a:lnTo>
                  <a:lnTo>
                    <a:pt x="2348582" y="18745"/>
                  </a:lnTo>
                  <a:lnTo>
                    <a:pt x="2350872" y="21536"/>
                  </a:lnTo>
                  <a:lnTo>
                    <a:pt x="2352887" y="24552"/>
                  </a:lnTo>
                  <a:lnTo>
                    <a:pt x="2354903" y="27568"/>
                  </a:lnTo>
                  <a:lnTo>
                    <a:pt x="2356605" y="30751"/>
                  </a:lnTo>
                  <a:lnTo>
                    <a:pt x="2357993" y="34103"/>
                  </a:lnTo>
                  <a:lnTo>
                    <a:pt x="2359381" y="37454"/>
                  </a:lnTo>
                  <a:lnTo>
                    <a:pt x="2360429" y="40909"/>
                  </a:lnTo>
                  <a:lnTo>
                    <a:pt x="2361137" y="44467"/>
                  </a:lnTo>
                  <a:lnTo>
                    <a:pt x="2361845" y="48024"/>
                  </a:lnTo>
                  <a:lnTo>
                    <a:pt x="2362200" y="51617"/>
                  </a:lnTo>
                  <a:lnTo>
                    <a:pt x="2362200" y="55244"/>
                  </a:lnTo>
                  <a:lnTo>
                    <a:pt x="2362200" y="1259204"/>
                  </a:lnTo>
                  <a:lnTo>
                    <a:pt x="2362200" y="1262832"/>
                  </a:lnTo>
                  <a:lnTo>
                    <a:pt x="2361845" y="1266424"/>
                  </a:lnTo>
                  <a:lnTo>
                    <a:pt x="2361137" y="1269982"/>
                  </a:lnTo>
                  <a:lnTo>
                    <a:pt x="2360429" y="1273540"/>
                  </a:lnTo>
                  <a:lnTo>
                    <a:pt x="2352888" y="1289897"/>
                  </a:lnTo>
                  <a:lnTo>
                    <a:pt x="2350873" y="1292913"/>
                  </a:lnTo>
                  <a:lnTo>
                    <a:pt x="2328094" y="1310244"/>
                  </a:lnTo>
                  <a:lnTo>
                    <a:pt x="2324743" y="1311632"/>
                  </a:lnTo>
                  <a:lnTo>
                    <a:pt x="2321288" y="1312680"/>
                  </a:lnTo>
                  <a:lnTo>
                    <a:pt x="2317731" y="1313388"/>
                  </a:lnTo>
                  <a:lnTo>
                    <a:pt x="2314174" y="1314095"/>
                  </a:lnTo>
                  <a:lnTo>
                    <a:pt x="2310582" y="1314449"/>
                  </a:lnTo>
                  <a:lnTo>
                    <a:pt x="2306954" y="1314449"/>
                  </a:lnTo>
                  <a:lnTo>
                    <a:pt x="55245" y="1314449"/>
                  </a:lnTo>
                  <a:lnTo>
                    <a:pt x="51617" y="1314449"/>
                  </a:lnTo>
                  <a:lnTo>
                    <a:pt x="48024" y="1314095"/>
                  </a:lnTo>
                  <a:lnTo>
                    <a:pt x="44467" y="1313388"/>
                  </a:lnTo>
                  <a:lnTo>
                    <a:pt x="40909" y="1312680"/>
                  </a:lnTo>
                  <a:lnTo>
                    <a:pt x="37454" y="1311632"/>
                  </a:lnTo>
                  <a:lnTo>
                    <a:pt x="34103" y="1310244"/>
                  </a:lnTo>
                  <a:lnTo>
                    <a:pt x="30751" y="1308856"/>
                  </a:lnTo>
                  <a:lnTo>
                    <a:pt x="16180" y="1298268"/>
                  </a:lnTo>
                  <a:lnTo>
                    <a:pt x="13615" y="1295703"/>
                  </a:lnTo>
                  <a:lnTo>
                    <a:pt x="11325" y="1292913"/>
                  </a:lnTo>
                  <a:lnTo>
                    <a:pt x="9309" y="1289897"/>
                  </a:lnTo>
                  <a:lnTo>
                    <a:pt x="7294" y="1286880"/>
                  </a:lnTo>
                  <a:lnTo>
                    <a:pt x="5592" y="1283697"/>
                  </a:lnTo>
                  <a:lnTo>
                    <a:pt x="4204" y="1280345"/>
                  </a:lnTo>
                  <a:lnTo>
                    <a:pt x="2816" y="1276994"/>
                  </a:lnTo>
                  <a:lnTo>
                    <a:pt x="1768" y="1273540"/>
                  </a:lnTo>
                  <a:lnTo>
                    <a:pt x="1060" y="1269982"/>
                  </a:lnTo>
                  <a:lnTo>
                    <a:pt x="353" y="1266424"/>
                  </a:lnTo>
                  <a:lnTo>
                    <a:pt x="0" y="1262832"/>
                  </a:lnTo>
                  <a:lnTo>
                    <a:pt x="0" y="1259204"/>
                  </a:lnTo>
                  <a:close/>
                </a:path>
              </a:pathLst>
            </a:custGeom>
            <a:ln w="9524">
              <a:solidFill>
                <a:srgbClr val="DEB8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648699" y="2466974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7"/>
                  </a:lnTo>
                  <a:lnTo>
                    <a:pt x="198741" y="507765"/>
                  </a:lnTo>
                  <a:lnTo>
                    <a:pt x="150976" y="491550"/>
                  </a:lnTo>
                  <a:lnTo>
                    <a:pt x="107292" y="466328"/>
                  </a:lnTo>
                  <a:lnTo>
                    <a:pt x="69369" y="433069"/>
                  </a:lnTo>
                  <a:lnTo>
                    <a:pt x="38661" y="393050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6"/>
                  </a:lnTo>
                  <a:lnTo>
                    <a:pt x="48020" y="107292"/>
                  </a:lnTo>
                  <a:lnTo>
                    <a:pt x="81280" y="69369"/>
                  </a:lnTo>
                  <a:lnTo>
                    <a:pt x="121298" y="38662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9"/>
                  </a:lnTo>
                  <a:lnTo>
                    <a:pt x="407055" y="48021"/>
                  </a:lnTo>
                  <a:lnTo>
                    <a:pt x="444980" y="81280"/>
                  </a:lnTo>
                  <a:lnTo>
                    <a:pt x="475686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50" y="248751"/>
                  </a:lnTo>
                  <a:lnTo>
                    <a:pt x="514350" y="265598"/>
                  </a:lnTo>
                  <a:lnTo>
                    <a:pt x="507764" y="315607"/>
                  </a:lnTo>
                  <a:lnTo>
                    <a:pt x="491550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49" y="475687"/>
                  </a:lnTo>
                  <a:lnTo>
                    <a:pt x="347809" y="497996"/>
                  </a:lnTo>
                  <a:lnTo>
                    <a:pt x="299085" y="511051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86427" y="2609247"/>
              <a:ext cx="241720" cy="23262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3813214" y="5042150"/>
            <a:ext cx="2902655" cy="352097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>
              <a:spcBef>
                <a:spcPts val="160"/>
              </a:spcBef>
            </a:pP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Probabilistic</a:t>
            </a:r>
            <a:r>
              <a:rPr sz="2155" spc="527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Modeling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493653" y="6035376"/>
            <a:ext cx="3770211" cy="2554014"/>
            <a:chOff x="5934073" y="3781424"/>
            <a:chExt cx="2362200" cy="1600200"/>
          </a:xfrm>
        </p:grpSpPr>
        <p:sp>
          <p:nvSpPr>
            <p:cNvPr id="25" name="object 25"/>
            <p:cNvSpPr/>
            <p:nvPr/>
          </p:nvSpPr>
          <p:spPr>
            <a:xfrm>
              <a:off x="5938836" y="3786187"/>
              <a:ext cx="2352675" cy="1590675"/>
            </a:xfrm>
            <a:custGeom>
              <a:avLst/>
              <a:gdLst/>
              <a:ahLst/>
              <a:cxnLst/>
              <a:rect l="l" t="t" r="r" b="b"/>
              <a:pathLst>
                <a:path w="2352675" h="1590675">
                  <a:moveTo>
                    <a:pt x="2301057" y="1590674"/>
                  </a:moveTo>
                  <a:lnTo>
                    <a:pt x="51617" y="1590674"/>
                  </a:lnTo>
                  <a:lnTo>
                    <a:pt x="48024" y="1590320"/>
                  </a:lnTo>
                  <a:lnTo>
                    <a:pt x="13615" y="1571927"/>
                  </a:lnTo>
                  <a:lnTo>
                    <a:pt x="0" y="1539057"/>
                  </a:lnTo>
                  <a:lnTo>
                    <a:pt x="0" y="153542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01057" y="0"/>
                  </a:lnTo>
                  <a:lnTo>
                    <a:pt x="2339059" y="18745"/>
                  </a:lnTo>
                  <a:lnTo>
                    <a:pt x="2352674" y="51617"/>
                  </a:lnTo>
                  <a:lnTo>
                    <a:pt x="2352674" y="1539057"/>
                  </a:lnTo>
                  <a:lnTo>
                    <a:pt x="2333927" y="1577058"/>
                  </a:lnTo>
                  <a:lnTo>
                    <a:pt x="2304649" y="1590320"/>
                  </a:lnTo>
                  <a:lnTo>
                    <a:pt x="2301057" y="1590674"/>
                  </a:lnTo>
                  <a:close/>
                </a:path>
              </a:pathLst>
            </a:custGeom>
            <a:solidFill>
              <a:srgbClr val="F9D1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938836" y="3786187"/>
              <a:ext cx="2352675" cy="1590675"/>
            </a:xfrm>
            <a:custGeom>
              <a:avLst/>
              <a:gdLst/>
              <a:ahLst/>
              <a:cxnLst/>
              <a:rect l="l" t="t" r="r" b="b"/>
              <a:pathLst>
                <a:path w="2352675" h="1590675">
                  <a:moveTo>
                    <a:pt x="0" y="153542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2" y="44466"/>
                  </a:lnTo>
                  <a:lnTo>
                    <a:pt x="1769" y="40909"/>
                  </a:lnTo>
                  <a:lnTo>
                    <a:pt x="2817" y="37454"/>
                  </a:lnTo>
                  <a:lnTo>
                    <a:pt x="16181" y="16180"/>
                  </a:lnTo>
                  <a:lnTo>
                    <a:pt x="18745" y="13615"/>
                  </a:lnTo>
                  <a:lnTo>
                    <a:pt x="21536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2" y="5592"/>
                  </a:lnTo>
                  <a:lnTo>
                    <a:pt x="34103" y="4205"/>
                  </a:lnTo>
                  <a:lnTo>
                    <a:pt x="37455" y="2816"/>
                  </a:lnTo>
                  <a:lnTo>
                    <a:pt x="40909" y="1768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297430" y="0"/>
                  </a:lnTo>
                  <a:lnTo>
                    <a:pt x="2301057" y="0"/>
                  </a:lnTo>
                  <a:lnTo>
                    <a:pt x="2304649" y="353"/>
                  </a:lnTo>
                  <a:lnTo>
                    <a:pt x="2308207" y="1061"/>
                  </a:lnTo>
                  <a:lnTo>
                    <a:pt x="2311765" y="1768"/>
                  </a:lnTo>
                  <a:lnTo>
                    <a:pt x="2315219" y="2816"/>
                  </a:lnTo>
                  <a:lnTo>
                    <a:pt x="2318570" y="4205"/>
                  </a:lnTo>
                  <a:lnTo>
                    <a:pt x="2321922" y="5592"/>
                  </a:lnTo>
                  <a:lnTo>
                    <a:pt x="2336494" y="16180"/>
                  </a:lnTo>
                  <a:lnTo>
                    <a:pt x="2339059" y="18745"/>
                  </a:lnTo>
                  <a:lnTo>
                    <a:pt x="2341349" y="21535"/>
                  </a:lnTo>
                  <a:lnTo>
                    <a:pt x="2343364" y="24552"/>
                  </a:lnTo>
                  <a:lnTo>
                    <a:pt x="2345379" y="27567"/>
                  </a:lnTo>
                  <a:lnTo>
                    <a:pt x="2352675" y="55244"/>
                  </a:lnTo>
                  <a:lnTo>
                    <a:pt x="2352675" y="1535429"/>
                  </a:lnTo>
                  <a:lnTo>
                    <a:pt x="2343363" y="1566121"/>
                  </a:lnTo>
                  <a:lnTo>
                    <a:pt x="2341348" y="1569137"/>
                  </a:lnTo>
                  <a:lnTo>
                    <a:pt x="2318569" y="1586468"/>
                  </a:lnTo>
                  <a:lnTo>
                    <a:pt x="2315218" y="1587856"/>
                  </a:lnTo>
                  <a:lnTo>
                    <a:pt x="2311764" y="1588905"/>
                  </a:lnTo>
                  <a:lnTo>
                    <a:pt x="2308207" y="1589613"/>
                  </a:lnTo>
                  <a:lnTo>
                    <a:pt x="2304649" y="1590320"/>
                  </a:lnTo>
                  <a:lnTo>
                    <a:pt x="2301057" y="1590674"/>
                  </a:lnTo>
                  <a:lnTo>
                    <a:pt x="2297430" y="1590674"/>
                  </a:lnTo>
                  <a:lnTo>
                    <a:pt x="55245" y="1590674"/>
                  </a:lnTo>
                  <a:lnTo>
                    <a:pt x="51617" y="1590674"/>
                  </a:lnTo>
                  <a:lnTo>
                    <a:pt x="48024" y="1590320"/>
                  </a:lnTo>
                  <a:lnTo>
                    <a:pt x="13615" y="1571927"/>
                  </a:lnTo>
                  <a:lnTo>
                    <a:pt x="9309" y="1566121"/>
                  </a:lnTo>
                  <a:lnTo>
                    <a:pt x="7294" y="1563105"/>
                  </a:lnTo>
                  <a:lnTo>
                    <a:pt x="5592" y="1559922"/>
                  </a:lnTo>
                  <a:lnTo>
                    <a:pt x="4205" y="1556570"/>
                  </a:lnTo>
                  <a:lnTo>
                    <a:pt x="2816" y="1553219"/>
                  </a:lnTo>
                  <a:lnTo>
                    <a:pt x="1769" y="1549764"/>
                  </a:lnTo>
                  <a:lnTo>
                    <a:pt x="1061" y="1546207"/>
                  </a:lnTo>
                  <a:lnTo>
                    <a:pt x="354" y="1542649"/>
                  </a:lnTo>
                  <a:lnTo>
                    <a:pt x="0" y="1539057"/>
                  </a:lnTo>
                  <a:lnTo>
                    <a:pt x="0" y="1535429"/>
                  </a:lnTo>
                  <a:close/>
                </a:path>
              </a:pathLst>
            </a:custGeom>
            <a:ln w="9524">
              <a:solidFill>
                <a:srgbClr val="DEB8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15048" y="39623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50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8"/>
                  </a:lnTo>
                  <a:lnTo>
                    <a:pt x="69369" y="433068"/>
                  </a:lnTo>
                  <a:lnTo>
                    <a:pt x="38662" y="393049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65597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5"/>
                  </a:lnTo>
                  <a:lnTo>
                    <a:pt x="48021" y="107291"/>
                  </a:lnTo>
                  <a:lnTo>
                    <a:pt x="81281" y="69368"/>
                  </a:lnTo>
                  <a:lnTo>
                    <a:pt x="121299" y="38661"/>
                  </a:lnTo>
                  <a:lnTo>
                    <a:pt x="166540" y="16352"/>
                  </a:lnTo>
                  <a:lnTo>
                    <a:pt x="215264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1" y="22798"/>
                  </a:lnTo>
                  <a:lnTo>
                    <a:pt x="407056" y="48020"/>
                  </a:lnTo>
                  <a:lnTo>
                    <a:pt x="444980" y="81279"/>
                  </a:lnTo>
                  <a:lnTo>
                    <a:pt x="475687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50" y="248751"/>
                  </a:lnTo>
                  <a:lnTo>
                    <a:pt x="514350" y="265597"/>
                  </a:lnTo>
                  <a:lnTo>
                    <a:pt x="507764" y="315608"/>
                  </a:lnTo>
                  <a:lnTo>
                    <a:pt x="491550" y="363372"/>
                  </a:lnTo>
                  <a:lnTo>
                    <a:pt x="466328" y="407056"/>
                  </a:lnTo>
                  <a:lnTo>
                    <a:pt x="433068" y="444980"/>
                  </a:lnTo>
                  <a:lnTo>
                    <a:pt x="393049" y="475686"/>
                  </a:lnTo>
                  <a:lnTo>
                    <a:pt x="347808" y="497996"/>
                  </a:lnTo>
                  <a:lnTo>
                    <a:pt x="299086" y="511051"/>
                  </a:lnTo>
                  <a:lnTo>
                    <a:pt x="274000" y="513936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52731" y="4111205"/>
              <a:ext cx="241815" cy="21956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9761521" y="7316438"/>
            <a:ext cx="2141520" cy="909173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 marR="8108">
              <a:lnSpc>
                <a:spcPct val="134300"/>
              </a:lnSpc>
              <a:spcBef>
                <a:spcPts val="160"/>
              </a:spcBef>
            </a:pPr>
            <a:r>
              <a:rPr sz="2155" spc="88" dirty="0">
                <a:solidFill>
                  <a:srgbClr val="171A1B"/>
                </a:solidFill>
                <a:latin typeface="Tahoma"/>
                <a:cs typeface="Tahoma"/>
              </a:rPr>
              <a:t>Graph</a:t>
            </a:r>
            <a:r>
              <a:rPr sz="2155" spc="18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dirty="0">
                <a:solidFill>
                  <a:srgbClr val="171A1B"/>
                </a:solidFill>
                <a:latin typeface="Tahoma"/>
                <a:cs typeface="Tahoma"/>
              </a:rPr>
              <a:t>Plotting</a:t>
            </a:r>
            <a:r>
              <a:rPr sz="2155" spc="19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-112" dirty="0">
                <a:solidFill>
                  <a:srgbClr val="171A1B"/>
                </a:solidFill>
                <a:latin typeface="Tahoma"/>
                <a:cs typeface="Tahoma"/>
              </a:rPr>
              <a:t>&amp; </a:t>
            </a:r>
            <a:r>
              <a:rPr sz="2155" spc="80" dirty="0">
                <a:solidFill>
                  <a:srgbClr val="171A1B"/>
                </a:solidFill>
                <a:latin typeface="Tahoma"/>
                <a:cs typeface="Tahoma"/>
              </a:rPr>
              <a:t>Analysis</a:t>
            </a:r>
            <a:endParaRPr sz="2155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537510" y="6035376"/>
            <a:ext cx="3785413" cy="2554014"/>
            <a:chOff x="8467723" y="3781424"/>
            <a:chExt cx="2371725" cy="1600200"/>
          </a:xfrm>
        </p:grpSpPr>
        <p:sp>
          <p:nvSpPr>
            <p:cNvPr id="31" name="object 31"/>
            <p:cNvSpPr/>
            <p:nvPr/>
          </p:nvSpPr>
          <p:spPr>
            <a:xfrm>
              <a:off x="8472485" y="3786187"/>
              <a:ext cx="2362200" cy="1590675"/>
            </a:xfrm>
            <a:custGeom>
              <a:avLst/>
              <a:gdLst/>
              <a:ahLst/>
              <a:cxnLst/>
              <a:rect l="l" t="t" r="r" b="b"/>
              <a:pathLst>
                <a:path w="2362200" h="1590675">
                  <a:moveTo>
                    <a:pt x="2310582" y="1590674"/>
                  </a:moveTo>
                  <a:lnTo>
                    <a:pt x="51617" y="1590674"/>
                  </a:lnTo>
                  <a:lnTo>
                    <a:pt x="48024" y="1590320"/>
                  </a:lnTo>
                  <a:lnTo>
                    <a:pt x="13615" y="1571927"/>
                  </a:lnTo>
                  <a:lnTo>
                    <a:pt x="0" y="1539057"/>
                  </a:lnTo>
                  <a:lnTo>
                    <a:pt x="0" y="1535429"/>
                  </a:lnTo>
                  <a:lnTo>
                    <a:pt x="0" y="51617"/>
                  </a:lnTo>
                  <a:lnTo>
                    <a:pt x="18745" y="13615"/>
                  </a:lnTo>
                  <a:lnTo>
                    <a:pt x="51617" y="0"/>
                  </a:lnTo>
                  <a:lnTo>
                    <a:pt x="2310582" y="0"/>
                  </a:lnTo>
                  <a:lnTo>
                    <a:pt x="2348582" y="18745"/>
                  </a:lnTo>
                  <a:lnTo>
                    <a:pt x="2362200" y="51617"/>
                  </a:lnTo>
                  <a:lnTo>
                    <a:pt x="2362200" y="1539057"/>
                  </a:lnTo>
                  <a:lnTo>
                    <a:pt x="2343453" y="1577058"/>
                  </a:lnTo>
                  <a:lnTo>
                    <a:pt x="2314174" y="1590320"/>
                  </a:lnTo>
                  <a:lnTo>
                    <a:pt x="2310582" y="1590674"/>
                  </a:lnTo>
                  <a:close/>
                </a:path>
              </a:pathLst>
            </a:custGeom>
            <a:solidFill>
              <a:srgbClr val="F9D1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72485" y="3786187"/>
              <a:ext cx="2362200" cy="1590675"/>
            </a:xfrm>
            <a:custGeom>
              <a:avLst/>
              <a:gdLst/>
              <a:ahLst/>
              <a:cxnLst/>
              <a:rect l="l" t="t" r="r" b="b"/>
              <a:pathLst>
                <a:path w="2362200" h="1590675">
                  <a:moveTo>
                    <a:pt x="0" y="1535429"/>
                  </a:moveTo>
                  <a:lnTo>
                    <a:pt x="0" y="55244"/>
                  </a:lnTo>
                  <a:lnTo>
                    <a:pt x="0" y="51617"/>
                  </a:lnTo>
                  <a:lnTo>
                    <a:pt x="354" y="48024"/>
                  </a:lnTo>
                  <a:lnTo>
                    <a:pt x="1061" y="44466"/>
                  </a:lnTo>
                  <a:lnTo>
                    <a:pt x="1768" y="40909"/>
                  </a:lnTo>
                  <a:lnTo>
                    <a:pt x="2816" y="37454"/>
                  </a:lnTo>
                  <a:lnTo>
                    <a:pt x="4204" y="34102"/>
                  </a:lnTo>
                  <a:lnTo>
                    <a:pt x="5592" y="30751"/>
                  </a:lnTo>
                  <a:lnTo>
                    <a:pt x="7294" y="27567"/>
                  </a:lnTo>
                  <a:lnTo>
                    <a:pt x="9309" y="24552"/>
                  </a:lnTo>
                  <a:lnTo>
                    <a:pt x="11325" y="21535"/>
                  </a:lnTo>
                  <a:lnTo>
                    <a:pt x="13615" y="18745"/>
                  </a:lnTo>
                  <a:lnTo>
                    <a:pt x="16180" y="16180"/>
                  </a:lnTo>
                  <a:lnTo>
                    <a:pt x="18745" y="13615"/>
                  </a:lnTo>
                  <a:lnTo>
                    <a:pt x="21535" y="11325"/>
                  </a:lnTo>
                  <a:lnTo>
                    <a:pt x="24552" y="9309"/>
                  </a:lnTo>
                  <a:lnTo>
                    <a:pt x="27568" y="7294"/>
                  </a:lnTo>
                  <a:lnTo>
                    <a:pt x="30751" y="5592"/>
                  </a:lnTo>
                  <a:lnTo>
                    <a:pt x="34103" y="4205"/>
                  </a:lnTo>
                  <a:lnTo>
                    <a:pt x="37454" y="2816"/>
                  </a:lnTo>
                  <a:lnTo>
                    <a:pt x="40909" y="1768"/>
                  </a:lnTo>
                  <a:lnTo>
                    <a:pt x="44467" y="1061"/>
                  </a:lnTo>
                  <a:lnTo>
                    <a:pt x="48024" y="353"/>
                  </a:lnTo>
                  <a:lnTo>
                    <a:pt x="51617" y="0"/>
                  </a:lnTo>
                  <a:lnTo>
                    <a:pt x="55245" y="0"/>
                  </a:lnTo>
                  <a:lnTo>
                    <a:pt x="2306954" y="0"/>
                  </a:lnTo>
                  <a:lnTo>
                    <a:pt x="2310582" y="0"/>
                  </a:lnTo>
                  <a:lnTo>
                    <a:pt x="2314175" y="353"/>
                  </a:lnTo>
                  <a:lnTo>
                    <a:pt x="2317732" y="1061"/>
                  </a:lnTo>
                  <a:lnTo>
                    <a:pt x="2321288" y="1768"/>
                  </a:lnTo>
                  <a:lnTo>
                    <a:pt x="2324743" y="2816"/>
                  </a:lnTo>
                  <a:lnTo>
                    <a:pt x="2328094" y="4205"/>
                  </a:lnTo>
                  <a:lnTo>
                    <a:pt x="2331446" y="5592"/>
                  </a:lnTo>
                  <a:lnTo>
                    <a:pt x="2334629" y="7294"/>
                  </a:lnTo>
                  <a:lnTo>
                    <a:pt x="2337646" y="9309"/>
                  </a:lnTo>
                  <a:lnTo>
                    <a:pt x="2340663" y="11325"/>
                  </a:lnTo>
                  <a:lnTo>
                    <a:pt x="2343453" y="13615"/>
                  </a:lnTo>
                  <a:lnTo>
                    <a:pt x="2346017" y="16180"/>
                  </a:lnTo>
                  <a:lnTo>
                    <a:pt x="2348582" y="18745"/>
                  </a:lnTo>
                  <a:lnTo>
                    <a:pt x="2350872" y="21535"/>
                  </a:lnTo>
                  <a:lnTo>
                    <a:pt x="2352887" y="24552"/>
                  </a:lnTo>
                  <a:lnTo>
                    <a:pt x="2354903" y="27567"/>
                  </a:lnTo>
                  <a:lnTo>
                    <a:pt x="2361137" y="44467"/>
                  </a:lnTo>
                  <a:lnTo>
                    <a:pt x="2361845" y="48024"/>
                  </a:lnTo>
                  <a:lnTo>
                    <a:pt x="2362200" y="51617"/>
                  </a:lnTo>
                  <a:lnTo>
                    <a:pt x="2362200" y="55244"/>
                  </a:lnTo>
                  <a:lnTo>
                    <a:pt x="2362200" y="1535429"/>
                  </a:lnTo>
                  <a:lnTo>
                    <a:pt x="2362200" y="1539057"/>
                  </a:lnTo>
                  <a:lnTo>
                    <a:pt x="2361845" y="1542649"/>
                  </a:lnTo>
                  <a:lnTo>
                    <a:pt x="2361137" y="1546207"/>
                  </a:lnTo>
                  <a:lnTo>
                    <a:pt x="2360429" y="1549765"/>
                  </a:lnTo>
                  <a:lnTo>
                    <a:pt x="2352888" y="1566121"/>
                  </a:lnTo>
                  <a:lnTo>
                    <a:pt x="2350873" y="1569137"/>
                  </a:lnTo>
                  <a:lnTo>
                    <a:pt x="2328094" y="1586468"/>
                  </a:lnTo>
                  <a:lnTo>
                    <a:pt x="2324743" y="1587856"/>
                  </a:lnTo>
                  <a:lnTo>
                    <a:pt x="2321288" y="1588905"/>
                  </a:lnTo>
                  <a:lnTo>
                    <a:pt x="2317731" y="1589613"/>
                  </a:lnTo>
                  <a:lnTo>
                    <a:pt x="2314174" y="1590320"/>
                  </a:lnTo>
                  <a:lnTo>
                    <a:pt x="2310582" y="1590674"/>
                  </a:lnTo>
                  <a:lnTo>
                    <a:pt x="2306954" y="1590674"/>
                  </a:lnTo>
                  <a:lnTo>
                    <a:pt x="55245" y="1590674"/>
                  </a:lnTo>
                  <a:lnTo>
                    <a:pt x="51617" y="1590674"/>
                  </a:lnTo>
                  <a:lnTo>
                    <a:pt x="48024" y="1590320"/>
                  </a:lnTo>
                  <a:lnTo>
                    <a:pt x="44467" y="1589613"/>
                  </a:lnTo>
                  <a:lnTo>
                    <a:pt x="40909" y="1588905"/>
                  </a:lnTo>
                  <a:lnTo>
                    <a:pt x="37454" y="1587856"/>
                  </a:lnTo>
                  <a:lnTo>
                    <a:pt x="34103" y="1586468"/>
                  </a:lnTo>
                  <a:lnTo>
                    <a:pt x="30751" y="1585080"/>
                  </a:lnTo>
                  <a:lnTo>
                    <a:pt x="16180" y="1574493"/>
                  </a:lnTo>
                  <a:lnTo>
                    <a:pt x="13615" y="1571927"/>
                  </a:lnTo>
                  <a:lnTo>
                    <a:pt x="11325" y="1569137"/>
                  </a:lnTo>
                  <a:lnTo>
                    <a:pt x="9309" y="1566121"/>
                  </a:lnTo>
                  <a:lnTo>
                    <a:pt x="7294" y="1563105"/>
                  </a:lnTo>
                  <a:lnTo>
                    <a:pt x="5592" y="1559922"/>
                  </a:lnTo>
                  <a:lnTo>
                    <a:pt x="4204" y="1556570"/>
                  </a:lnTo>
                  <a:lnTo>
                    <a:pt x="2816" y="1553219"/>
                  </a:lnTo>
                  <a:lnTo>
                    <a:pt x="1768" y="1549764"/>
                  </a:lnTo>
                  <a:lnTo>
                    <a:pt x="1060" y="1546207"/>
                  </a:lnTo>
                  <a:lnTo>
                    <a:pt x="353" y="1542649"/>
                  </a:lnTo>
                  <a:lnTo>
                    <a:pt x="0" y="1539057"/>
                  </a:lnTo>
                  <a:lnTo>
                    <a:pt x="0" y="1535429"/>
                  </a:lnTo>
                  <a:close/>
                </a:path>
              </a:pathLst>
            </a:custGeom>
            <a:ln w="9524">
              <a:solidFill>
                <a:srgbClr val="DEB8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648699" y="3962399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8" y="514349"/>
                  </a:moveTo>
                  <a:lnTo>
                    <a:pt x="248752" y="514349"/>
                  </a:lnTo>
                  <a:lnTo>
                    <a:pt x="240349" y="513936"/>
                  </a:lnTo>
                  <a:lnTo>
                    <a:pt x="198741" y="507764"/>
                  </a:lnTo>
                  <a:lnTo>
                    <a:pt x="150976" y="491549"/>
                  </a:lnTo>
                  <a:lnTo>
                    <a:pt x="107292" y="466328"/>
                  </a:lnTo>
                  <a:lnTo>
                    <a:pt x="69369" y="433068"/>
                  </a:lnTo>
                  <a:lnTo>
                    <a:pt x="38661" y="393049"/>
                  </a:lnTo>
                  <a:lnTo>
                    <a:pt x="16353" y="347809"/>
                  </a:lnTo>
                  <a:lnTo>
                    <a:pt x="3298" y="299086"/>
                  </a:lnTo>
                  <a:lnTo>
                    <a:pt x="0" y="257174"/>
                  </a:lnTo>
                  <a:lnTo>
                    <a:pt x="0" y="248751"/>
                  </a:lnTo>
                  <a:lnTo>
                    <a:pt x="6584" y="198741"/>
                  </a:lnTo>
                  <a:lnTo>
                    <a:pt x="22799" y="150975"/>
                  </a:lnTo>
                  <a:lnTo>
                    <a:pt x="48020" y="107291"/>
                  </a:lnTo>
                  <a:lnTo>
                    <a:pt x="81280" y="69368"/>
                  </a:lnTo>
                  <a:lnTo>
                    <a:pt x="121298" y="38661"/>
                  </a:lnTo>
                  <a:lnTo>
                    <a:pt x="166539" y="16352"/>
                  </a:lnTo>
                  <a:lnTo>
                    <a:pt x="215263" y="3298"/>
                  </a:lnTo>
                  <a:lnTo>
                    <a:pt x="248752" y="0"/>
                  </a:lnTo>
                  <a:lnTo>
                    <a:pt x="265598" y="0"/>
                  </a:lnTo>
                  <a:lnTo>
                    <a:pt x="315607" y="6584"/>
                  </a:lnTo>
                  <a:lnTo>
                    <a:pt x="363372" y="22798"/>
                  </a:lnTo>
                  <a:lnTo>
                    <a:pt x="407055" y="48020"/>
                  </a:lnTo>
                  <a:lnTo>
                    <a:pt x="444980" y="81279"/>
                  </a:lnTo>
                  <a:lnTo>
                    <a:pt x="475686" y="121298"/>
                  </a:lnTo>
                  <a:lnTo>
                    <a:pt x="497996" y="166539"/>
                  </a:lnTo>
                  <a:lnTo>
                    <a:pt x="511051" y="215263"/>
                  </a:lnTo>
                  <a:lnTo>
                    <a:pt x="514350" y="248751"/>
                  </a:lnTo>
                  <a:lnTo>
                    <a:pt x="514350" y="265597"/>
                  </a:lnTo>
                  <a:lnTo>
                    <a:pt x="507764" y="315608"/>
                  </a:lnTo>
                  <a:lnTo>
                    <a:pt x="491550" y="363372"/>
                  </a:lnTo>
                  <a:lnTo>
                    <a:pt x="466327" y="407056"/>
                  </a:lnTo>
                  <a:lnTo>
                    <a:pt x="433068" y="444980"/>
                  </a:lnTo>
                  <a:lnTo>
                    <a:pt x="393049" y="475686"/>
                  </a:lnTo>
                  <a:lnTo>
                    <a:pt x="347809" y="497996"/>
                  </a:lnTo>
                  <a:lnTo>
                    <a:pt x="299085" y="511051"/>
                  </a:lnTo>
                  <a:lnTo>
                    <a:pt x="265598" y="514349"/>
                  </a:lnTo>
                  <a:close/>
                </a:path>
              </a:pathLst>
            </a:custGeom>
            <a:solidFill>
              <a:srgbClr val="7E11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86500" y="4100189"/>
              <a:ext cx="241574" cy="24194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3813214" y="7428936"/>
            <a:ext cx="3231030" cy="352097"/>
          </a:xfrm>
          <a:prstGeom prst="rect">
            <a:avLst/>
          </a:prstGeom>
        </p:spPr>
        <p:txBody>
          <a:bodyPr vert="horz" wrap="square" lIns="0" tIns="20270" rIns="0" bIns="0" rtlCol="0">
            <a:spAutoFit/>
          </a:bodyPr>
          <a:lstStyle/>
          <a:p>
            <a:pPr marL="20270">
              <a:spcBef>
                <a:spcPts val="160"/>
              </a:spcBef>
            </a:pPr>
            <a:r>
              <a:rPr sz="2155" spc="32" dirty="0">
                <a:solidFill>
                  <a:srgbClr val="171A1B"/>
                </a:solidFill>
                <a:latin typeface="Tahoma"/>
                <a:cs typeface="Tahoma"/>
              </a:rPr>
              <a:t>Documentation</a:t>
            </a:r>
            <a:r>
              <a:rPr sz="2155" spc="18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16" dirty="0">
                <a:solidFill>
                  <a:srgbClr val="171A1B"/>
                </a:solidFill>
                <a:latin typeface="Tahoma"/>
                <a:cs typeface="Tahoma"/>
              </a:rPr>
              <a:t>&amp;</a:t>
            </a:r>
            <a:r>
              <a:rPr sz="2155" spc="182" dirty="0">
                <a:solidFill>
                  <a:srgbClr val="171A1B"/>
                </a:solidFill>
                <a:latin typeface="Tahoma"/>
                <a:cs typeface="Tahoma"/>
              </a:rPr>
              <a:t> </a:t>
            </a:r>
            <a:r>
              <a:rPr sz="2155" spc="64" dirty="0">
                <a:solidFill>
                  <a:srgbClr val="171A1B"/>
                </a:solidFill>
                <a:latin typeface="Tahoma"/>
                <a:cs typeface="Tahoma"/>
              </a:rPr>
              <a:t>GitHub</a:t>
            </a:r>
            <a:endParaRPr sz="2155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30869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5225" y="718422"/>
            <a:ext cx="12141200" cy="1569660"/>
          </a:xfrm>
        </p:spPr>
        <p:txBody>
          <a:bodyPr/>
          <a:lstStyle/>
          <a:p>
            <a:r>
              <a:rPr lang="en-IN" dirty="0"/>
              <a:t>Summary of Group-Level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3238500"/>
            <a:ext cx="1546859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smtClean="0"/>
              <a:t>The Binary Exponential Backoff algorithm is a </a:t>
            </a:r>
            <a:r>
              <a:rPr lang="en-US" sz="4000" b="1" smtClean="0"/>
              <a:t>randomized protocol</a:t>
            </a:r>
            <a:r>
              <a:rPr lang="en-US" sz="4000" smtClean="0"/>
              <a:t> used in Ethernet and Wi-Fi networks to reduce repeated collisions. By modeling backoff as a random variable and simulating transmission attempts, we estimate collision probability, delay, and throughput. This project demonstrates how </a:t>
            </a:r>
            <a:r>
              <a:rPr lang="en-US" sz="4000" b="1" smtClean="0"/>
              <a:t>probability theory and randomized algorithms</a:t>
            </a:r>
            <a:r>
              <a:rPr lang="en-US" sz="4000" smtClean="0"/>
              <a:t> directly explain real network behavior and improve performance in shared communication channels.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964599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511</Words>
  <Application>Microsoft Office PowerPoint</Application>
  <PresentationFormat>Custom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Black</vt:lpstr>
      <vt:lpstr>Microsoft Sans Serif</vt:lpstr>
      <vt:lpstr>Tahoma</vt:lpstr>
      <vt:lpstr>Office Theme</vt:lpstr>
      <vt:lpstr>CSE-400 Fundamentals of Probability in Computing</vt:lpstr>
      <vt:lpstr>An Analysis of the Binary Exponential Backoff Algorithm in Distributed MAC Protocols</vt:lpstr>
      <vt:lpstr>Project Objective and Scope</vt:lpstr>
      <vt:lpstr>Project System Overview</vt:lpstr>
      <vt:lpstr>Sources of Uncertainty in the Project</vt:lpstr>
      <vt:lpstr>Key Random Variables and Their Roles</vt:lpstr>
      <vt:lpstr>Probabilistic Reasoning and Inference</vt:lpstr>
      <vt:lpstr>Operationalizing Probabilistic Reasoning</vt:lpstr>
      <vt:lpstr>Current Limitations and Gaps</vt:lpstr>
      <vt:lpstr>Planned Refinements and Role Coordination</vt:lpstr>
      <vt:lpstr>Summary of Group-Level Understanding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CSE-400 Fundamentals of Probability in Computing</dc:title>
  <dc:creator>Khushi</dc:creator>
  <cp:keywords>DAHAPrwuP0Y,BAEgQSw82os,0</cp:keywords>
  <cp:lastModifiedBy>pratikagrawal719@gmail.com</cp:lastModifiedBy>
  <cp:revision>3</cp:revision>
  <dcterms:created xsi:type="dcterms:W3CDTF">2026-02-03T19:20:22Z</dcterms:created>
  <dcterms:modified xsi:type="dcterms:W3CDTF">2026-02-03T19:39:12Z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2026-02-03T00:00:00Z</vt:filetime>
  </property>
  <property fmtid="{D5CDD505-2E9C-101B-9397-08002B2CF9AE}" pid="3" name="Creator">
    <vt:lpwstr>Canva</vt:lpwstr>
  </property>
  <property fmtid="{D5CDD505-2E9C-101B-9397-08002B2CF9AE}" pid="4" name="LastSaved">
    <vt:filetime>2026-02-03T00:00:00Z</vt:filetime>
  </property>
  <property fmtid="{D5CDD505-2E9C-101B-9397-08002B2CF9AE}" pid="5" name="Producer">
    <vt:lpwstr>Canva</vt:lpwstr>
  </property>
</Properties>
</file>