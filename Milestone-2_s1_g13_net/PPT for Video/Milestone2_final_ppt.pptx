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75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C11BAD-A784-44E3-83B6-A84765D60B18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D58552-42F1-45B5-8E32-0795B3541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055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71A1B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71A1B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E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10134600"/>
            <a:ext cx="13715999" cy="1523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134600"/>
            <a:ext cx="3898106" cy="1523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89923" y="10134600"/>
            <a:ext cx="3898076" cy="1523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8219" y="9058417"/>
            <a:ext cx="2048732" cy="89849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415116" y="2053367"/>
            <a:ext cx="6187440" cy="5603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171A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191656" y="2045747"/>
            <a:ext cx="6492875" cy="6365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0" i="0">
                <a:solidFill>
                  <a:srgbClr val="171A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E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86000" y="10134600"/>
            <a:ext cx="13715999" cy="1523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0134600"/>
            <a:ext cx="3898106" cy="1523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389923" y="10134600"/>
            <a:ext cx="3898076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25225" y="718422"/>
            <a:ext cx="12141200" cy="802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90848" y="4827904"/>
            <a:ext cx="13360400" cy="330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71A1B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7821" y="700519"/>
            <a:ext cx="5890211" cy="19998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9246" y="3512399"/>
            <a:ext cx="1723580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0" spc="-254" dirty="0">
                <a:solidFill>
                  <a:srgbClr val="7D1816"/>
                </a:solidFill>
              </a:rPr>
              <a:t>CSE-</a:t>
            </a:r>
            <a:r>
              <a:rPr sz="5500" spc="-520" dirty="0">
                <a:solidFill>
                  <a:srgbClr val="7D1816"/>
                </a:solidFill>
              </a:rPr>
              <a:t>400</a:t>
            </a:r>
            <a:r>
              <a:rPr sz="5500" spc="-335" dirty="0">
                <a:solidFill>
                  <a:srgbClr val="7D1816"/>
                </a:solidFill>
              </a:rPr>
              <a:t> </a:t>
            </a:r>
            <a:r>
              <a:rPr sz="5500" spc="-430" dirty="0">
                <a:solidFill>
                  <a:srgbClr val="7D1816"/>
                </a:solidFill>
              </a:rPr>
              <a:t>Fundamentals</a:t>
            </a:r>
            <a:r>
              <a:rPr sz="5500" spc="-335" dirty="0">
                <a:solidFill>
                  <a:srgbClr val="7D1816"/>
                </a:solidFill>
              </a:rPr>
              <a:t> </a:t>
            </a:r>
            <a:r>
              <a:rPr sz="5500" spc="-320" dirty="0">
                <a:solidFill>
                  <a:srgbClr val="7D1816"/>
                </a:solidFill>
              </a:rPr>
              <a:t>of</a:t>
            </a:r>
            <a:r>
              <a:rPr sz="5500" spc="-335" dirty="0">
                <a:solidFill>
                  <a:srgbClr val="7D1816"/>
                </a:solidFill>
              </a:rPr>
              <a:t> </a:t>
            </a:r>
            <a:r>
              <a:rPr sz="5500" spc="-360" dirty="0">
                <a:solidFill>
                  <a:srgbClr val="7D1816"/>
                </a:solidFill>
              </a:rPr>
              <a:t>Probability</a:t>
            </a:r>
            <a:r>
              <a:rPr sz="5500" spc="-335" dirty="0">
                <a:solidFill>
                  <a:srgbClr val="7D1816"/>
                </a:solidFill>
              </a:rPr>
              <a:t> in </a:t>
            </a:r>
            <a:r>
              <a:rPr sz="5500" spc="-385" dirty="0">
                <a:solidFill>
                  <a:srgbClr val="7D1816"/>
                </a:solidFill>
              </a:rPr>
              <a:t>Computing</a:t>
            </a:r>
            <a:endParaRPr sz="5500"/>
          </a:p>
        </p:txBody>
      </p:sp>
      <p:sp>
        <p:nvSpPr>
          <p:cNvPr id="4" name="object 4"/>
          <p:cNvSpPr txBox="1"/>
          <p:nvPr/>
        </p:nvSpPr>
        <p:spPr>
          <a:xfrm>
            <a:off x="5868286" y="4814277"/>
            <a:ext cx="6252210" cy="286616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ts val="5465"/>
              </a:lnSpc>
              <a:spcBef>
                <a:spcPts val="110"/>
              </a:spcBef>
            </a:pPr>
            <a:r>
              <a:rPr sz="4600" spc="-355" dirty="0">
                <a:solidFill>
                  <a:srgbClr val="7D1816"/>
                </a:solidFill>
                <a:latin typeface="Arial Black"/>
                <a:cs typeface="Arial Black"/>
              </a:rPr>
              <a:t>Milestone</a:t>
            </a:r>
            <a:r>
              <a:rPr sz="4600" spc="-295" dirty="0">
                <a:solidFill>
                  <a:srgbClr val="7D1816"/>
                </a:solidFill>
                <a:latin typeface="Arial Black"/>
                <a:cs typeface="Arial Black"/>
              </a:rPr>
              <a:t> </a:t>
            </a:r>
            <a:r>
              <a:rPr lang="en-IN" sz="4600" dirty="0">
                <a:solidFill>
                  <a:srgbClr val="7D1816"/>
                </a:solidFill>
                <a:latin typeface="Arial Black"/>
                <a:cs typeface="Arial Black"/>
              </a:rPr>
              <a:t>–</a:t>
            </a:r>
            <a:r>
              <a:rPr sz="4600" spc="-290" dirty="0">
                <a:solidFill>
                  <a:srgbClr val="7D1816"/>
                </a:solidFill>
                <a:latin typeface="Arial Black"/>
                <a:cs typeface="Arial Black"/>
              </a:rPr>
              <a:t> </a:t>
            </a:r>
            <a:r>
              <a:rPr lang="en-US" sz="4600" spc="-480" dirty="0">
                <a:solidFill>
                  <a:srgbClr val="7D1816"/>
                </a:solidFill>
                <a:latin typeface="Arial Black"/>
                <a:cs typeface="Arial Black"/>
              </a:rPr>
              <a:t>2</a:t>
            </a:r>
            <a:endParaRPr sz="4600" dirty="0">
              <a:latin typeface="Arial Black"/>
              <a:cs typeface="Arial Black"/>
            </a:endParaRPr>
          </a:p>
          <a:p>
            <a:pPr algn="ctr">
              <a:lnSpc>
                <a:spcPts val="5465"/>
              </a:lnSpc>
            </a:pPr>
            <a:r>
              <a:rPr sz="4600" spc="-355" dirty="0">
                <a:solidFill>
                  <a:srgbClr val="7D1816"/>
                </a:solidFill>
                <a:latin typeface="Arial Black"/>
                <a:cs typeface="Arial Black"/>
              </a:rPr>
              <a:t>Section</a:t>
            </a:r>
            <a:r>
              <a:rPr sz="4600" spc="-260" dirty="0">
                <a:solidFill>
                  <a:srgbClr val="7D1816"/>
                </a:solidFill>
                <a:latin typeface="Arial Black"/>
                <a:cs typeface="Arial Black"/>
              </a:rPr>
              <a:t> </a:t>
            </a:r>
            <a:r>
              <a:rPr sz="4600" spc="-30" dirty="0">
                <a:solidFill>
                  <a:srgbClr val="7D1816"/>
                </a:solidFill>
                <a:latin typeface="Arial Black"/>
                <a:cs typeface="Arial Black"/>
              </a:rPr>
              <a:t>-</a:t>
            </a:r>
            <a:r>
              <a:rPr sz="4600" spc="-480" dirty="0">
                <a:solidFill>
                  <a:srgbClr val="7D1816"/>
                </a:solidFill>
                <a:latin typeface="Arial Black"/>
                <a:cs typeface="Arial Black"/>
              </a:rPr>
              <a:t>1</a:t>
            </a:r>
            <a:endParaRPr sz="4600" dirty="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5285"/>
              </a:spcBef>
              <a:tabLst>
                <a:tab pos="3357245" algn="l"/>
              </a:tabLst>
            </a:pPr>
            <a:r>
              <a:rPr sz="4950" spc="-220" dirty="0">
                <a:solidFill>
                  <a:srgbClr val="7D1816"/>
                </a:solidFill>
                <a:latin typeface="Arial Black"/>
                <a:cs typeface="Arial Black"/>
              </a:rPr>
              <a:t>Group-</a:t>
            </a:r>
            <a:r>
              <a:rPr sz="4950" spc="-430" dirty="0">
                <a:solidFill>
                  <a:srgbClr val="7D1816"/>
                </a:solidFill>
                <a:latin typeface="Arial Black"/>
                <a:cs typeface="Arial Black"/>
              </a:rPr>
              <a:t>13:</a:t>
            </a:r>
            <a:r>
              <a:rPr sz="4950" dirty="0">
                <a:solidFill>
                  <a:srgbClr val="7D1816"/>
                </a:solidFill>
                <a:latin typeface="Arial Black"/>
                <a:cs typeface="Arial Black"/>
              </a:rPr>
              <a:t>	</a:t>
            </a:r>
            <a:r>
              <a:rPr sz="4950" spc="-470" dirty="0">
                <a:solidFill>
                  <a:srgbClr val="7D1816"/>
                </a:solidFill>
                <a:latin typeface="Arial Black"/>
                <a:cs typeface="Arial Black"/>
              </a:rPr>
              <a:t>Networks</a:t>
            </a:r>
            <a:endParaRPr sz="495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19" y="9058417"/>
            <a:ext cx="2048732" cy="8984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1795" y="553590"/>
            <a:ext cx="17504410" cy="156464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4243070" marR="5080" indent="-4231005">
              <a:lnSpc>
                <a:spcPts val="6000"/>
              </a:lnSpc>
              <a:spcBef>
                <a:spcPts val="320"/>
              </a:spcBef>
            </a:pPr>
            <a:r>
              <a:rPr spc="-335" dirty="0"/>
              <a:t>An</a:t>
            </a:r>
            <a:r>
              <a:rPr spc="-320" dirty="0"/>
              <a:t> </a:t>
            </a:r>
            <a:r>
              <a:rPr spc="-325" dirty="0"/>
              <a:t>Analysis</a:t>
            </a:r>
            <a:r>
              <a:rPr spc="-320" dirty="0"/>
              <a:t> </a:t>
            </a:r>
            <a:r>
              <a:rPr spc="-300" dirty="0"/>
              <a:t>of</a:t>
            </a:r>
            <a:r>
              <a:rPr spc="-315" dirty="0"/>
              <a:t> </a:t>
            </a:r>
            <a:r>
              <a:rPr spc="-455" dirty="0"/>
              <a:t>the</a:t>
            </a:r>
            <a:r>
              <a:rPr spc="-320" dirty="0"/>
              <a:t> </a:t>
            </a:r>
            <a:r>
              <a:rPr spc="-330" dirty="0"/>
              <a:t>Binary</a:t>
            </a:r>
            <a:r>
              <a:rPr spc="-320" dirty="0"/>
              <a:t> </a:t>
            </a:r>
            <a:r>
              <a:rPr spc="-395" dirty="0"/>
              <a:t>Exponential</a:t>
            </a:r>
            <a:r>
              <a:rPr spc="-315" dirty="0"/>
              <a:t> </a:t>
            </a:r>
            <a:r>
              <a:rPr spc="-434" dirty="0"/>
              <a:t>Backoff</a:t>
            </a:r>
            <a:r>
              <a:rPr spc="-320" dirty="0"/>
              <a:t> </a:t>
            </a:r>
            <a:r>
              <a:rPr spc="-375" dirty="0"/>
              <a:t>Algorithm </a:t>
            </a:r>
            <a:r>
              <a:rPr spc="-310" dirty="0"/>
              <a:t>in</a:t>
            </a:r>
            <a:r>
              <a:rPr spc="-320" dirty="0"/>
              <a:t> </a:t>
            </a:r>
            <a:r>
              <a:rPr spc="-340" dirty="0"/>
              <a:t>Distributed</a:t>
            </a:r>
            <a:r>
              <a:rPr spc="-320" dirty="0"/>
              <a:t> </a:t>
            </a:r>
            <a:r>
              <a:rPr spc="-425" dirty="0"/>
              <a:t>MAC</a:t>
            </a:r>
            <a:r>
              <a:rPr spc="-320" dirty="0"/>
              <a:t> </a:t>
            </a:r>
            <a:r>
              <a:rPr spc="-365" dirty="0"/>
              <a:t>Protocols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1205" y="3166109"/>
            <a:ext cx="142874" cy="142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1205" y="4992947"/>
            <a:ext cx="142874" cy="1428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1205" y="7070769"/>
            <a:ext cx="142874" cy="1428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327061" y="2644774"/>
            <a:ext cx="15137765" cy="6388100"/>
          </a:xfrm>
          <a:prstGeom prst="rect">
            <a:avLst/>
          </a:prstGeom>
        </p:spPr>
        <p:txBody>
          <a:bodyPr vert="horz" wrap="square" lIns="0" tIns="283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30"/>
              </a:spcBef>
              <a:tabLst>
                <a:tab pos="4286250" algn="l"/>
              </a:tabLst>
            </a:pP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Application</a:t>
            </a:r>
            <a:r>
              <a:rPr sz="3600" spc="-15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Domain: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	Wireless</a:t>
            </a:r>
            <a:r>
              <a:rPr sz="3600" spc="-14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LANs</a:t>
            </a:r>
            <a:r>
              <a:rPr sz="3600" spc="-13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40" dirty="0">
                <a:solidFill>
                  <a:srgbClr val="171A1B"/>
                </a:solidFill>
                <a:latin typeface="Microsoft Sans Serif"/>
                <a:cs typeface="Microsoft Sans Serif"/>
              </a:rPr>
              <a:t>(IEEE</a:t>
            </a:r>
            <a:r>
              <a:rPr sz="3600" spc="-13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802.11</a:t>
            </a:r>
            <a:r>
              <a:rPr sz="3600" spc="-13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20" dirty="0">
                <a:solidFill>
                  <a:srgbClr val="171A1B"/>
                </a:solidFill>
                <a:latin typeface="Microsoft Sans Serif"/>
                <a:cs typeface="Microsoft Sans Serif"/>
              </a:rPr>
              <a:t>DCF)</a:t>
            </a:r>
            <a:endParaRPr sz="3600" dirty="0">
              <a:latin typeface="Microsoft Sans Serif"/>
              <a:cs typeface="Microsoft Sans Serif"/>
            </a:endParaRPr>
          </a:p>
          <a:p>
            <a:pPr marL="4258310">
              <a:lnSpc>
                <a:spcPct val="100000"/>
              </a:lnSpc>
              <a:spcBef>
                <a:spcPts val="2130"/>
              </a:spcBef>
            </a:pP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Distributed</a:t>
            </a:r>
            <a:r>
              <a:rPr sz="3600" spc="-12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Medium</a:t>
            </a:r>
            <a:r>
              <a:rPr sz="3600" spc="-114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Access</a:t>
            </a:r>
            <a:r>
              <a:rPr sz="3600" spc="-114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Control</a:t>
            </a:r>
            <a:r>
              <a:rPr sz="3600" spc="-114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(MAC)</a:t>
            </a:r>
            <a:r>
              <a:rPr sz="3600" spc="-114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protocols</a:t>
            </a:r>
            <a:endParaRPr sz="3600" dirty="0">
              <a:latin typeface="Microsoft Sans Serif"/>
              <a:cs typeface="Microsoft Sans Serif"/>
            </a:endParaRPr>
          </a:p>
          <a:p>
            <a:pPr marL="4370070" marR="5080" indent="-4358005">
              <a:lnSpc>
                <a:spcPct val="149300"/>
              </a:lnSpc>
              <a:spcBef>
                <a:spcPts val="1485"/>
              </a:spcBef>
              <a:tabLst>
                <a:tab pos="4333240" algn="l"/>
              </a:tabLst>
            </a:pPr>
            <a:r>
              <a:rPr sz="3600" spc="-25" dirty="0">
                <a:solidFill>
                  <a:srgbClr val="171A1B"/>
                </a:solidFill>
                <a:latin typeface="Microsoft Sans Serif"/>
                <a:cs typeface="Microsoft Sans Serif"/>
              </a:rPr>
              <a:t>Real-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World</a:t>
            </a:r>
            <a:r>
              <a:rPr sz="3600" spc="-14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Context: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	Multiple</a:t>
            </a:r>
            <a:r>
              <a:rPr sz="3600" spc="-14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wireless</a:t>
            </a:r>
            <a:r>
              <a:rPr sz="3600" spc="-14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nodes</a:t>
            </a:r>
            <a:r>
              <a:rPr sz="3600" spc="-14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compete</a:t>
            </a:r>
            <a:r>
              <a:rPr sz="3600" spc="-14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for</a:t>
            </a:r>
            <a:r>
              <a:rPr sz="3600" spc="-14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a</a:t>
            </a:r>
            <a:r>
              <a:rPr sz="3600" spc="-14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shared</a:t>
            </a:r>
            <a:r>
              <a:rPr sz="3600" spc="-14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channel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Collisions</a:t>
            </a:r>
            <a:r>
              <a:rPr sz="3600" spc="-13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reduce</a:t>
            </a:r>
            <a:r>
              <a:rPr sz="3600" spc="-13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productivity</a:t>
            </a:r>
            <a:r>
              <a:rPr sz="3600" spc="-13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and</a:t>
            </a:r>
            <a:r>
              <a:rPr sz="3600" spc="-13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efficiency</a:t>
            </a:r>
            <a:endParaRPr sz="36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15"/>
              </a:spcBef>
            </a:pPr>
            <a:endParaRPr sz="3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5803900" algn="l"/>
              </a:tabLst>
            </a:pP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Why</a:t>
            </a:r>
            <a:r>
              <a:rPr sz="3600" spc="-12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Uncertainty</a:t>
            </a:r>
            <a:r>
              <a:rPr sz="3600" spc="-12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is</a:t>
            </a:r>
            <a:r>
              <a:rPr sz="3600" spc="-12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Intrinsic: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	Random</a:t>
            </a:r>
            <a:r>
              <a:rPr sz="3600" spc="-15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backoff</a:t>
            </a:r>
            <a:r>
              <a:rPr sz="3600" spc="-15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times</a:t>
            </a:r>
            <a:endParaRPr sz="3600" dirty="0">
              <a:latin typeface="Microsoft Sans Serif"/>
              <a:cs typeface="Microsoft Sans Serif"/>
            </a:endParaRPr>
          </a:p>
          <a:p>
            <a:pPr marL="5821045" marR="1717675">
              <a:lnSpc>
                <a:spcPct val="149300"/>
              </a:lnSpc>
            </a:pP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Random</a:t>
            </a:r>
            <a:r>
              <a:rPr sz="3600" spc="-14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number</a:t>
            </a:r>
            <a:r>
              <a:rPr sz="3600" spc="-14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of</a:t>
            </a:r>
            <a:r>
              <a:rPr sz="3600" spc="-14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contending</a:t>
            </a:r>
            <a:r>
              <a:rPr sz="3600" spc="-14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nodes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Random</a:t>
            </a:r>
            <a:r>
              <a:rPr sz="3600" spc="-16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collisions</a:t>
            </a:r>
            <a:r>
              <a:rPr sz="3600" spc="-16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and</a:t>
            </a:r>
            <a:r>
              <a:rPr sz="3600" spc="-16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idle</a:t>
            </a:r>
            <a:r>
              <a:rPr sz="3600" spc="-16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slots</a:t>
            </a:r>
            <a:endParaRPr sz="3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8428" y="723900"/>
            <a:ext cx="9671144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Milestone-2 Objective</a:t>
            </a:r>
            <a:endParaRPr spc="-395" dirty="0"/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1012358" y="2222187"/>
            <a:ext cx="16263284" cy="5842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 Milestone-2, we move beyond qualitative discussion and develop a mathematical model of BEBA.</a:t>
            </a:r>
          </a:p>
          <a:p>
            <a:endParaRPr lang="en-IN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n-IN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We focus on:</a:t>
            </a:r>
          </a:p>
          <a:p>
            <a:r>
              <a:rPr lang="en-IN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• Defining random variables</a:t>
            </a:r>
            <a:br>
              <a:rPr lang="en-IN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</a:br>
            <a:r>
              <a:rPr lang="en-IN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• Deriving probability distributions</a:t>
            </a:r>
            <a:br>
              <a:rPr lang="en-IN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</a:br>
            <a:r>
              <a:rPr lang="en-IN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• </a:t>
            </a:r>
            <a:r>
              <a:rPr lang="en-IN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Modeling</a:t>
            </a:r>
            <a:r>
              <a:rPr lang="en-IN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channel </a:t>
            </a:r>
            <a:r>
              <a:rPr lang="en-IN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behavior</a:t>
            </a:r>
            <a:r>
              <a:rPr lang="en-IN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using Markov chains</a:t>
            </a:r>
            <a:br>
              <a:rPr lang="en-IN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</a:br>
            <a:r>
              <a:rPr lang="en-IN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• Validating intuition using probability and simulation</a:t>
            </a:r>
          </a:p>
          <a:p>
            <a:pPr marL="741680" algn="ctr">
              <a:lnSpc>
                <a:spcPct val="100000"/>
              </a:lnSpc>
              <a:spcBef>
                <a:spcPts val="100"/>
              </a:spcBef>
            </a:pPr>
            <a:endParaRPr spc="-3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19" y="9058417"/>
            <a:ext cx="2048732" cy="89849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7F8815B-4253-DC81-9392-04C17C903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6637" y="620790"/>
            <a:ext cx="7752375" cy="802640"/>
          </a:xfrm>
        </p:spPr>
        <p:txBody>
          <a:bodyPr/>
          <a:lstStyle/>
          <a:p>
            <a:r>
              <a:rPr lang="en-IN" dirty="0"/>
              <a:t>System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BB4A7C-13D3-3064-EB3F-48D5CA2D148B}"/>
                  </a:ext>
                </a:extLst>
              </p:cNvPr>
              <p:cNvSpPr txBox="1"/>
              <p:nvPr/>
            </p:nvSpPr>
            <p:spPr>
              <a:xfrm>
                <a:off x="1104900" y="1727180"/>
                <a:ext cx="16078200" cy="6832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To enable analytical modeling, we make the following assumptions:</a:t>
                </a:r>
              </a:p>
              <a:p>
                <a:endParaRPr lang="en-US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• There are </a:t>
                </a:r>
                <a14:m>
                  <m:oMath xmlns:m="http://schemas.openxmlformats.org/officeDocument/2006/math">
                    <m:r>
                      <a:rPr lang="en-US" sz="42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 saturated stations (always have data to send)</a:t>
                </a:r>
                <a:b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</a:br>
                <a: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• Time is divided into discrete slots</a:t>
                </a:r>
                <a:b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</a:br>
                <a: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• All stations hear each other (no hidden terminals)</a:t>
                </a:r>
                <a:b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</a:br>
                <a: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• The channel is ideal (no noise or capture effects)</a:t>
                </a:r>
                <a:b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</a:br>
                <a: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• Backoff counters are uniformly selected and frozen during busy slots</a:t>
                </a:r>
              </a:p>
              <a:p>
                <a: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These assumptions match the conditions analyzed in the research paper.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BB4A7C-13D3-3064-EB3F-48D5CA2D1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00" y="1727180"/>
                <a:ext cx="16078200" cy="6832640"/>
              </a:xfrm>
              <a:prstGeom prst="rect">
                <a:avLst/>
              </a:prstGeom>
              <a:blipFill>
                <a:blip r:embed="rId3"/>
                <a:stretch>
                  <a:fillRect l="-1440" t="-1784" r="-14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19" y="9058417"/>
            <a:ext cx="2048732" cy="8984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34235" y="585770"/>
            <a:ext cx="821953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1" dirty="0"/>
              <a:t>Key Random Variables</a:t>
            </a:r>
            <a:r>
              <a:rPr lang="en-IN" dirty="0"/>
              <a:t> </a:t>
            </a:r>
            <a:endParaRPr spc="-41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7"/>
              <p:cNvSpPr txBox="1"/>
              <p:nvPr/>
            </p:nvSpPr>
            <p:spPr>
              <a:xfrm>
                <a:off x="1050402" y="1943100"/>
                <a:ext cx="16187196" cy="6292748"/>
              </a:xfrm>
              <a:prstGeom prst="rect">
                <a:avLst/>
              </a:prstGeom>
            </p:spPr>
            <p:txBody>
              <a:bodyPr vert="horz" wrap="square" lIns="0" tIns="283210" rIns="0" bIns="0" rtlCol="0">
                <a:spAutoFit/>
              </a:bodyPr>
              <a:lstStyle/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The probabilistic </a:t>
                </a:r>
                <a:r>
                  <a:rPr lang="en-IN" sz="42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behavior</a:t>
                </a:r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 of BEBA is captured using the following random variables:</a:t>
                </a:r>
              </a:p>
              <a:p>
                <a:endParaRPr lang="en-IN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• </a:t>
                </a:r>
                <a14:m>
                  <m:oMath xmlns:m="http://schemas.openxmlformats.org/officeDocument/2006/math">
                    <m:r>
                      <a:rPr lang="en-IN" sz="42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: Backoff counter value (number of idle slots before transmission)</a:t>
                </a:r>
                <a:b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</a:br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4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sz="4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42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ar-AE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 </a:t>
                </a:r>
                <a: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 </a:t>
                </a:r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Transmission attempt indicator for station </a:t>
                </a:r>
                <a14:m>
                  <m:oMath xmlns:m="http://schemas.openxmlformats.org/officeDocument/2006/math">
                    <m:r>
                      <a:rPr lang="en-IN" sz="420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in slot </a:t>
                </a:r>
                <a14:m>
                  <m:oMath xmlns:m="http://schemas.openxmlformats.org/officeDocument/2006/math">
                    <m:r>
                      <a:rPr lang="en-IN" sz="420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b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</a:br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• </a:t>
                </a:r>
                <a14:m>
                  <m:oMath xmlns:m="http://schemas.openxmlformats.org/officeDocument/2006/math">
                    <m:r>
                      <a:rPr lang="en-IN" sz="42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: Number of stations transmitting in a slot</a:t>
                </a:r>
                <a:b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</a:br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4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42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ar-AE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 </a:t>
                </a:r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Channel state in slot </a:t>
                </a:r>
                <a14:m>
                  <m:oMath xmlns:m="http://schemas.openxmlformats.org/officeDocument/2006/math">
                    <m:r>
                      <a:rPr lang="en-IN" sz="42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b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</a:br>
                <a:endParaRPr lang="en-IN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pPr marL="12700">
                  <a:lnSpc>
                    <a:spcPct val="100000"/>
                  </a:lnSpc>
                  <a:spcBef>
                    <a:spcPts val="2230"/>
                  </a:spcBef>
                  <a:tabLst>
                    <a:tab pos="4432935" algn="l"/>
                  </a:tabLst>
                </a:pPr>
                <a:endParaRPr sz="3600" dirty="0">
                  <a:latin typeface="Microsoft Sans Serif"/>
                  <a:cs typeface="Microsoft Sans Serif"/>
                </a:endParaRPr>
              </a:p>
            </p:txBody>
          </p:sp>
        </mc:Choice>
        <mc:Fallback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402" y="1943100"/>
                <a:ext cx="16187196" cy="6292748"/>
              </a:xfrm>
              <a:prstGeom prst="rect">
                <a:avLst/>
              </a:prstGeom>
              <a:blipFill>
                <a:blip r:embed="rId3"/>
                <a:stretch>
                  <a:fillRect l="-1995" r="-3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9151991"/>
            <a:ext cx="2048732" cy="8984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06285" y="342900"/>
            <a:ext cx="1147542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Distribution of Backoff Counter</a:t>
            </a:r>
            <a:endParaRPr spc="-35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820880" y="1409700"/>
                <a:ext cx="16646233" cy="819153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In BEBA, each station selects a backoff counter uniformly from the contention window: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2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N" sz="4200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m:rPr>
                          <m:nor/>
                        </m:rPr>
                        <a:rPr lang="en-IN" sz="4200" i="1" smtClean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Uniform</m:t>
                      </m:r>
                      <m:r>
                        <m:rPr>
                          <m:nor/>
                        </m:rPr>
                        <a:rPr lang="en-US" sz="4200" b="0" i="1" smtClean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sz="4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r>
                            <a:rPr lang="ar-AE" sz="4200" i="1" smtClean="0">
                              <a:latin typeface="Cambria Math" panose="02040503050406030204" pitchFamily="18" charset="0"/>
                            </a:rPr>
                            <m:t>𝐶𝑊</m:t>
                          </m:r>
                          <m:r>
                            <a:rPr lang="ar-AE" sz="420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42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42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endParaRPr lang="ar-AE" sz="42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The probability mass function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 sz="4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𝐶𝑊</m:t>
                          </m:r>
                        </m:den>
                      </m:f>
                    </m:oMath>
                  </m:oMathPara>
                </a14:m>
                <a:endParaRPr lang="ar-AE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The cumulative distribution function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 sz="4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𝐶𝑊</m:t>
                          </m:r>
                        </m:den>
                      </m:f>
                    </m:oMath>
                  </m:oMathPara>
                </a14:m>
                <a:endParaRPr lang="ar-AE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This uniform randomness spreads transmission attempts over time and reduces collisions.</a:t>
                </a:r>
              </a:p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endParaRPr sz="3600" dirty="0">
                  <a:latin typeface="Microsoft Sans Serif"/>
                  <a:cs typeface="Microsoft Sans Serif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80" y="1409700"/>
                <a:ext cx="16646233" cy="8191538"/>
              </a:xfrm>
              <a:prstGeom prst="rect">
                <a:avLst/>
              </a:prstGeom>
              <a:blipFill>
                <a:blip r:embed="rId3"/>
                <a:stretch>
                  <a:fillRect l="-1978" t="-19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22329" y="-190500"/>
            <a:ext cx="9843341" cy="1286627"/>
          </a:xfrm>
          <a:prstGeom prst="rect">
            <a:avLst/>
          </a:prstGeom>
        </p:spPr>
        <p:txBody>
          <a:bodyPr vert="horz" wrap="square" lIns="0" tIns="496944" rIns="0" bIns="0" rtlCol="0">
            <a:spAutoFit/>
          </a:bodyPr>
          <a:lstStyle/>
          <a:p>
            <a:pPr marL="39527">
              <a:spcBef>
                <a:spcPts val="200"/>
              </a:spcBef>
            </a:pPr>
            <a:r>
              <a:rPr lang="en-IN" dirty="0"/>
              <a:t>Attempt Probability Model</a:t>
            </a:r>
            <a:endParaRPr spc="-64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/>
              <p:nvPr/>
            </p:nvSpPr>
            <p:spPr>
              <a:xfrm>
                <a:off x="457200" y="1485900"/>
                <a:ext cx="17145000" cy="9033430"/>
              </a:xfrm>
              <a:prstGeom prst="rect">
                <a:avLst/>
              </a:prstGeom>
            </p:spPr>
            <p:txBody>
              <a:bodyPr vert="horz" wrap="square" lIns="0" tIns="27364" rIns="0" bIns="0" rtlCol="0">
                <a:spAutoFit/>
              </a:bodyPr>
              <a:lstStyle/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A station transmits when its backoff counter reaches zero.</a:t>
                </a:r>
              </a:p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The expected value of the backoff counter is:</a:t>
                </a:r>
              </a:p>
              <a:p>
                <a:endParaRPr lang="en-US" sz="42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2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ar-AE" sz="4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𝐶𝑊</m:t>
                          </m:r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endParaRPr lang="ar-AE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Therefore, the probability that a station attempts transmission in a given slot is approximated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2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IN" sz="4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sz="4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4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ar-AE" sz="4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𝐶𝑊</m:t>
                          </m:r>
                        </m:den>
                      </m:f>
                    </m:oMath>
                  </m:oMathPara>
                </a14:m>
                <a:endParaRPr lang="en-US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endParaRPr lang="ar-AE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This shows that increasing the contention window reduces transmission aggressiveness.</a:t>
                </a:r>
              </a:p>
              <a:p>
                <a:pPr marL="20270">
                  <a:spcBef>
                    <a:spcPts val="215"/>
                  </a:spcBef>
                </a:pPr>
                <a:endParaRPr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85900"/>
                <a:ext cx="17145000" cy="9033430"/>
              </a:xfrm>
              <a:prstGeom prst="rect">
                <a:avLst/>
              </a:prstGeom>
              <a:blipFill>
                <a:blip r:embed="rId2"/>
                <a:stretch>
                  <a:fillRect l="-1884" t="-1619" r="-11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8177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9525"/>
            <a:ext cx="11887200" cy="1163820"/>
          </a:xfrm>
          <a:prstGeom prst="rect">
            <a:avLst/>
          </a:prstGeom>
        </p:spPr>
        <p:txBody>
          <a:bodyPr vert="horz" wrap="square" lIns="0" tIns="375324" rIns="0" bIns="0" rtlCol="0">
            <a:spAutoFit/>
          </a:bodyPr>
          <a:lstStyle/>
          <a:p>
            <a:pPr marL="39527">
              <a:spcBef>
                <a:spcPts val="200"/>
              </a:spcBef>
            </a:pPr>
            <a:r>
              <a:rPr lang="en-IN" dirty="0"/>
              <a:t>Number of Transmitting Stations</a:t>
            </a:r>
            <a:endParaRPr spc="-1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38E5AE-6783-560F-2906-2DFF665E2D7E}"/>
                  </a:ext>
                </a:extLst>
              </p:cNvPr>
              <p:cNvSpPr txBox="1"/>
              <p:nvPr/>
            </p:nvSpPr>
            <p:spPr>
              <a:xfrm>
                <a:off x="723900" y="1485900"/>
                <a:ext cx="16840200" cy="9019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4200" dirty="0"/>
                  <a:t>In each slot, each station independently attempts transmission with probability </a:t>
                </a:r>
                <a14:m>
                  <m:oMath xmlns:m="http://schemas.openxmlformats.org/officeDocument/2006/math">
                    <m:r>
                      <a:rPr lang="en-IN" sz="42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IN" sz="4200" dirty="0"/>
                  <a:t>.</a:t>
                </a:r>
              </a:p>
              <a:p>
                <a:endParaRPr lang="en-IN" sz="4200" dirty="0"/>
              </a:p>
              <a:p>
                <a:r>
                  <a:rPr lang="en-IN" sz="4200" dirty="0"/>
                  <a:t>Let </a:t>
                </a:r>
                <a14:m>
                  <m:oMath xmlns:m="http://schemas.openxmlformats.org/officeDocument/2006/math">
                    <m:r>
                      <a:rPr lang="en-IN" sz="42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IN" sz="4200" dirty="0"/>
                  <a:t>denote the number of transmitting stations in a slot: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2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sz="4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ar-AE" sz="4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ar-AE" sz="4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sz="4200" dirty="0"/>
              </a:p>
              <a:p>
                <a:r>
                  <a:rPr lang="en-IN" sz="4200" dirty="0"/>
                  <a:t>Since transmission attempts are independent:</a:t>
                </a:r>
              </a:p>
              <a:p>
                <a:endParaRPr lang="en-US" sz="42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2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sz="4200">
                          <a:latin typeface="Cambria Math" panose="02040503050406030204" pitchFamily="18" charset="0"/>
                        </a:rPr>
                        <m:t>∼</m:t>
                      </m:r>
                      <m:r>
                        <m:rPr>
                          <m:nor/>
                        </m:rPr>
                        <a:rPr lang="en-IN" sz="4200" i="1"/>
                        <m:t>Binomial</m:t>
                      </m:r>
                      <m:d>
                        <m:dPr>
                          <m:sepChr m:val=","/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e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sz="4200" b="0" dirty="0"/>
              </a:p>
              <a:p>
                <a:endParaRPr lang="ar-AE" sz="4200" b="0" dirty="0"/>
              </a:p>
              <a:p>
                <a:r>
                  <a:rPr lang="en-IN" sz="4200" dirty="0"/>
                  <a:t>This distribution determines the likelihood of idle, successful, and collided slots.</a:t>
                </a:r>
              </a:p>
              <a:p>
                <a:endParaRPr lang="en-IN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38E5AE-6783-560F-2906-2DFF665E2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485900"/>
                <a:ext cx="16840200" cy="9019264"/>
              </a:xfrm>
              <a:prstGeom prst="rect">
                <a:avLst/>
              </a:prstGeom>
              <a:blipFill>
                <a:blip r:embed="rId2"/>
                <a:stretch>
                  <a:fillRect l="-1412" t="-14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1252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1475" y="419100"/>
            <a:ext cx="9765049" cy="810415"/>
          </a:xfrm>
          <a:prstGeom prst="rect">
            <a:avLst/>
          </a:prstGeom>
        </p:spPr>
        <p:txBody>
          <a:bodyPr vert="horz" wrap="square" lIns="0" tIns="25337" rIns="0" bIns="0" rtlCol="0">
            <a:spAutoFit/>
          </a:bodyPr>
          <a:lstStyle/>
          <a:p>
            <a:pPr marL="20270">
              <a:spcBef>
                <a:spcPts val="200"/>
              </a:spcBef>
            </a:pPr>
            <a:r>
              <a:rPr lang="en-IN" dirty="0"/>
              <a:t>Channel State Probabilities</a:t>
            </a:r>
            <a:endParaRPr spc="-32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20942D0-CACD-5235-5129-1EB1D8A60097}"/>
                  </a:ext>
                </a:extLst>
              </p:cNvPr>
              <p:cNvSpPr txBox="1"/>
              <p:nvPr/>
            </p:nvSpPr>
            <p:spPr>
              <a:xfrm>
                <a:off x="685800" y="1485900"/>
                <a:ext cx="14859000" cy="8520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The channel state depends on the value of </a:t>
                </a:r>
                <a14:m>
                  <m:oMath xmlns:m="http://schemas.openxmlformats.org/officeDocument/2006/math">
                    <m:r>
                      <a:rPr lang="en-IN" sz="42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:</a:t>
                </a:r>
              </a:p>
              <a:p>
                <a:endParaRPr lang="en-IN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• Idle slot: </a:t>
                </a:r>
                <a14:m>
                  <m:oMath xmlns:m="http://schemas.openxmlformats.org/officeDocument/2006/math">
                    <m:r>
                      <a:rPr lang="en-IN" sz="42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4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42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</a:br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• Successful transmission: </a:t>
                </a:r>
                <a14:m>
                  <m:oMath xmlns:m="http://schemas.openxmlformats.org/officeDocument/2006/math">
                    <m:r>
                      <a:rPr lang="en-IN" sz="42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4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42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b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</a:br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• Collision: </a:t>
                </a:r>
                <a14:m>
                  <m:oMath xmlns:m="http://schemas.openxmlformats.org/officeDocument/2006/math">
                    <m:r>
                      <a:rPr lang="en-IN" sz="42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420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42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IN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Using the binomial distribution: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ar-AE" sz="42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endChr m:val=""/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𝜏</m:t>
                          </m:r>
                          <m:sSup>
                            <m:sSupPr>
                              <m:ctrlPr>
                                <a:rPr lang="ar-AE" sz="4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sz="4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42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 sz="4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ar-AE" sz="4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42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ar-AE" sz="4200" i="1">
                          <a:latin typeface="Cambria Math" panose="02040503050406030204" pitchFamily="18" charset="0"/>
                        </a:rPr>
                        <m:t>𝜏</m:t>
                      </m:r>
                      <m:d>
                        <m:dPr>
                          <m:endChr m:val=""/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𝜏</m:t>
                          </m:r>
                          <m:sSup>
                            <m:sSupPr>
                              <m:ctrlPr>
                                <a:rPr lang="ar-AE" sz="4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sz="4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42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 sz="4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ar-AE" sz="4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4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ar-AE" sz="4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42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42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ar-AE" sz="42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endParaRPr lang="ar-AE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These probabilities quantify channel efficiency</a:t>
                </a:r>
                <a:r>
                  <a:rPr lang="en-IN" sz="4400" dirty="0"/>
                  <a:t>.</a:t>
                </a:r>
              </a:p>
              <a:p>
                <a:endParaRPr lang="en-IN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20942D0-CACD-5235-5129-1EB1D8A6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485900"/>
                <a:ext cx="14859000" cy="8520922"/>
              </a:xfrm>
              <a:prstGeom prst="rect">
                <a:avLst/>
              </a:prstGeom>
              <a:blipFill>
                <a:blip r:embed="rId2"/>
                <a:stretch>
                  <a:fillRect l="-1600" t="-15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3658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95507" y="-266700"/>
            <a:ext cx="5096986" cy="1455487"/>
          </a:xfrm>
          <a:prstGeom prst="rect">
            <a:avLst/>
          </a:prstGeom>
        </p:spPr>
        <p:txBody>
          <a:bodyPr vert="horz" wrap="square" lIns="0" tIns="664171" rIns="0" bIns="0" rtlCol="0">
            <a:spAutoFit/>
          </a:bodyPr>
          <a:lstStyle/>
          <a:p>
            <a:pPr marL="39527">
              <a:spcBef>
                <a:spcPts val="200"/>
              </a:spcBef>
            </a:pPr>
            <a:r>
              <a:rPr lang="en-US" spc="-16" dirty="0"/>
              <a:t>PDF and CDF</a:t>
            </a:r>
            <a:endParaRPr spc="-1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A70BF61-3C8C-D61A-D262-FCE56065D8D3}"/>
                  </a:ext>
                </a:extLst>
              </p:cNvPr>
              <p:cNvSpPr txBox="1"/>
              <p:nvPr/>
            </p:nvSpPr>
            <p:spPr>
              <a:xfrm>
                <a:off x="304800" y="1562100"/>
                <a:ext cx="17068800" cy="78091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The backoff counter </a:t>
                </a:r>
                <a14:m>
                  <m:oMath xmlns:m="http://schemas.openxmlformats.org/officeDocument/2006/math">
                    <m:r>
                      <a:rPr lang="en-IN" sz="32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IN" sz="3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follows a uniform distribution over the contention window: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 sz="3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𝐶𝑊</m:t>
                          </m:r>
                        </m:den>
                      </m:f>
                      <m:r>
                        <a:rPr lang="ar-AE" sz="32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sz="32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ar-AE" sz="3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2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32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32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320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ar-AE" sz="3200" i="1">
                          <a:latin typeface="Cambria Math" panose="02040503050406030204" pitchFamily="18" charset="0"/>
                        </a:rPr>
                        <m:t>𝐶𝑊</m:t>
                      </m:r>
                      <m:r>
                        <a:rPr lang="ar-AE" sz="32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32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sz="3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 sz="3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 sz="3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𝐶𝑊</m:t>
                          </m:r>
                        </m:den>
                      </m:f>
                    </m:oMath>
                  </m:oMathPara>
                </a14:m>
                <a:endParaRPr lang="ar-AE" sz="3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IN" sz="3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The number of transmitting stations </a:t>
                </a:r>
                <a14:m>
                  <m:oMath xmlns:m="http://schemas.openxmlformats.org/officeDocument/2006/math">
                    <m:r>
                      <a:rPr lang="en-IN" sz="32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IN" sz="3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 follows a binomial distribution:</a:t>
                </a:r>
              </a:p>
              <a:p>
                <a:endParaRPr lang="en-IN" sz="3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 sz="32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ar-AE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p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d>
                        <m:dPr>
                          <m:endChr m:val=""/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𝜏</m:t>
                          </m:r>
                          <m:sSup>
                            <m:sSupPr>
                              <m:ctrlPr>
                                <a:rPr lang="ar-AE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32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ar-AE" sz="3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3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 sz="3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 sz="3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d>
                            <m:dPr>
                              <m:ctrlPr>
                                <a:rPr lang="ar-AE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ar-AE" sz="3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sz="32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ar-AE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p>
                        <m:sSup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p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d>
                        <m:dPr>
                          <m:endChr m:val=""/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32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3200" i="1">
                              <a:latin typeface="Cambria Math" panose="02040503050406030204" pitchFamily="18" charset="0"/>
                            </a:rPr>
                            <m:t>𝜏</m:t>
                          </m:r>
                          <m:sSup>
                            <m:sSupPr>
                              <m:ctrlPr>
                                <a:rPr lang="ar-AE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32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ar-AE" sz="3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3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endParaRPr lang="ar-AE" sz="3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IN" sz="3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These PDFs and CDFs describe how transmission attempts and collisions are distributed over time and form the basis for performance evaluation.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A70BF61-3C8C-D61A-D262-FCE56065D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562100"/>
                <a:ext cx="17068800" cy="7809125"/>
              </a:xfrm>
              <a:prstGeom prst="rect">
                <a:avLst/>
              </a:prstGeom>
              <a:blipFill>
                <a:blip r:embed="rId2"/>
                <a:stretch>
                  <a:fillRect l="-893" t="-1015" r="-1321" b="-16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0869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3211" y="571500"/>
            <a:ext cx="12095775" cy="784830"/>
          </a:xfrm>
        </p:spPr>
        <p:txBody>
          <a:bodyPr/>
          <a:lstStyle/>
          <a:p>
            <a:r>
              <a:rPr lang="en-IN" dirty="0"/>
              <a:t>Limitation of Memoryless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019300"/>
            <a:ext cx="17145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Simple p-persistent models assume that every station has equal access probability after each slot.</a:t>
            </a:r>
          </a:p>
          <a:p>
            <a:endParaRPr lang="en-US" sz="4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n-US" sz="4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However, BEBA behaves differently:</a:t>
            </a:r>
          </a:p>
          <a:p>
            <a:r>
              <a:rPr lang="en-US" sz="4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• After a busy slot, only transmitting stations select new backoff values</a:t>
            </a:r>
            <a:br>
              <a:rPr lang="en-US" sz="4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</a:br>
            <a:r>
              <a:rPr lang="en-US" sz="4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• Non-transmitting stations freeze their counters</a:t>
            </a:r>
          </a:p>
          <a:p>
            <a:endParaRPr lang="en-US" sz="4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n-US" sz="4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This makes channel access state-dependent, motivating Markov modeling.</a:t>
            </a:r>
          </a:p>
          <a:p>
            <a:endParaRPr lang="en-IN" sz="4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599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4F163-E3F9-90B0-E26C-12F286385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3912" y="495300"/>
            <a:ext cx="9200175" cy="802640"/>
          </a:xfrm>
        </p:spPr>
        <p:txBody>
          <a:bodyPr/>
          <a:lstStyle/>
          <a:p>
            <a:r>
              <a:rPr lang="en-IN" dirty="0"/>
              <a:t>Markov Chain </a:t>
            </a:r>
            <a:r>
              <a:rPr lang="en-IN" dirty="0" err="1"/>
              <a:t>Modeling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3F2E2D-2763-692C-6A39-795DB411A9F9}"/>
                  </a:ext>
                </a:extLst>
              </p:cNvPr>
              <p:cNvSpPr txBox="1"/>
              <p:nvPr/>
            </p:nvSpPr>
            <p:spPr>
              <a:xfrm>
                <a:off x="457200" y="1865679"/>
                <a:ext cx="15011400" cy="7201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The channel evolution over slots can be </a:t>
                </a:r>
                <a:r>
                  <a:rPr lang="en-IN" sz="42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modeled</a:t>
                </a:r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 as a discrete-time Markov chain.</a:t>
                </a:r>
              </a:p>
              <a:p>
                <a:endParaRPr lang="en-IN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The Markov property holds because the next slot outcome depends only on the current slot state:</a:t>
                </a:r>
              </a:p>
              <a:p>
                <a:endParaRPr lang="en-IN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sepChr m:val=","/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4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2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4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42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sz="4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e>
                          <m:sSub>
                            <m:sSubPr>
                              <m:ctrlPr>
                                <a:rPr lang="ar-AE" sz="4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2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4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4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2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4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4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4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m:rPr>
                              <m:nor/>
                            </m:rPr>
                            <a:rPr lang="ar-AE" sz="4200" i="1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Microsoft Sans Serif" panose="020B0604020202020204" pitchFamily="34" charset="0"/>
                            </a:rPr>
                            <m:t> </m:t>
                          </m:r>
                        </m:e>
                      </m:d>
                      <m:r>
                        <a:rPr lang="ar-AE" sz="4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42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4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2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4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ar-AE" sz="42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sz="4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sz="4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2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4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42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endParaRPr lang="ar-AE" sz="42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This allows us to </a:t>
                </a:r>
                <a:r>
                  <a:rPr lang="en-IN" sz="42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analyze</a:t>
                </a:r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 long-term channel </a:t>
                </a:r>
                <a:r>
                  <a:rPr lang="en-IN" sz="42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behavior</a:t>
                </a:r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 using steady-state probabilities.</a:t>
                </a:r>
              </a:p>
              <a:p>
                <a:endParaRPr lang="en-IN" sz="4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3F2E2D-2763-692C-6A39-795DB411A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865679"/>
                <a:ext cx="15011400" cy="7201972"/>
              </a:xfrm>
              <a:prstGeom prst="rect">
                <a:avLst/>
              </a:prstGeom>
              <a:blipFill>
                <a:blip r:embed="rId2"/>
                <a:stretch>
                  <a:fillRect l="-1543" t="-16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7913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B6097-0255-402A-CAD0-16C3D8FFE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8288" y="495300"/>
            <a:ext cx="9951424" cy="802640"/>
          </a:xfrm>
        </p:spPr>
        <p:txBody>
          <a:bodyPr/>
          <a:lstStyle/>
          <a:p>
            <a:r>
              <a:rPr lang="en-IN" dirty="0"/>
              <a:t>Detailed Markov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0B7E76-82C3-BDF8-D4BE-9760270EBA56}"/>
                  </a:ext>
                </a:extLst>
              </p:cNvPr>
              <p:cNvSpPr txBox="1"/>
              <p:nvPr/>
            </p:nvSpPr>
            <p:spPr>
              <a:xfrm>
                <a:off x="609600" y="1850291"/>
                <a:ext cx="16383000" cy="6586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The paper models channel states as:</a:t>
                </a:r>
              </a:p>
              <a:p>
                <a:endParaRPr lang="en-IN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4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ar-AE" sz="42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4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ar-AE" sz="4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4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ar-AE" sz="4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ar-AE" sz="420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ar-AE" sz="4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ar-AE" sz="4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endParaRPr lang="en-IN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4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ar-AE" sz="42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: </a:t>
                </a:r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Idle slot</a:t>
                </a:r>
                <a:b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</a:br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4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ar-AE" sz="42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: </a:t>
                </a:r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Successful transmission</a:t>
                </a:r>
                <a:b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</a:br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4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: </a:t>
                </a:r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Collision involving </a:t>
                </a:r>
                <a14:m>
                  <m:oMath xmlns:m="http://schemas.openxmlformats.org/officeDocument/2006/math">
                    <m:r>
                      <a:rPr lang="en-IN" sz="42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stations</a:t>
                </a:r>
              </a:p>
              <a:p>
                <a:endParaRPr lang="en-IN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This model captures how many stations transmit in each slot.</a:t>
                </a:r>
              </a:p>
              <a:p>
                <a:endParaRPr lang="en-IN" sz="4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0B7E76-82C3-BDF8-D4BE-9760270EB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850291"/>
                <a:ext cx="16383000" cy="6586418"/>
              </a:xfrm>
              <a:prstGeom prst="rect">
                <a:avLst/>
              </a:prstGeom>
              <a:blipFill>
                <a:blip r:embed="rId2"/>
                <a:stretch>
                  <a:fillRect l="-1414" t="-19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1839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446E-9398-8B47-E07F-CD9617735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0312" y="419100"/>
            <a:ext cx="13467375" cy="1569660"/>
          </a:xfrm>
        </p:spPr>
        <p:txBody>
          <a:bodyPr/>
          <a:lstStyle/>
          <a:p>
            <a:r>
              <a:rPr lang="en-IN" dirty="0"/>
              <a:t>Simplified Three-State Markov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027459-D669-EB1D-48D0-30C52217D45C}"/>
                  </a:ext>
                </a:extLst>
              </p:cNvPr>
              <p:cNvSpPr txBox="1"/>
              <p:nvPr/>
            </p:nvSpPr>
            <p:spPr>
              <a:xfrm>
                <a:off x="609600" y="2019568"/>
                <a:ext cx="16154400" cy="6524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For analytical simplicity, the model is reduced to three states:</a:t>
                </a:r>
              </a:p>
              <a:p>
                <a: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• </a:t>
                </a:r>
                <a:r>
                  <a:rPr lang="en-US" sz="42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I</a:t>
                </a:r>
                <a: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 – Idle</a:t>
                </a:r>
                <a:b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</a:br>
                <a: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• </a:t>
                </a:r>
                <a:r>
                  <a:rPr lang="en-US" sz="42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S</a:t>
                </a:r>
                <a: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 – Success</a:t>
                </a:r>
                <a:b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</a:br>
                <a: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• </a:t>
                </a:r>
                <a:r>
                  <a:rPr lang="en-US" sz="42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C</a:t>
                </a:r>
                <a: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 – Collision</a:t>
                </a:r>
              </a:p>
              <a:p>
                <a:endParaRPr lang="en-US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Transitions between these states are governed by the transmission probability </a:t>
                </a:r>
                <a14:m>
                  <m:oMath xmlns:m="http://schemas.openxmlformats.org/officeDocument/2006/math">
                    <m:r>
                      <a:rPr lang="en-US" sz="42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and the contention window size.</a:t>
                </a:r>
              </a:p>
              <a:p>
                <a:endParaRPr lang="en-US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US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This simplified model preserves BEBA’s essential behavior.</a:t>
                </a:r>
              </a:p>
              <a:p>
                <a:endParaRPr lang="en-IN" sz="4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027459-D669-EB1D-48D0-30C52217D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019568"/>
                <a:ext cx="16154400" cy="6524863"/>
              </a:xfrm>
              <a:prstGeom prst="rect">
                <a:avLst/>
              </a:prstGeom>
              <a:blipFill>
                <a:blip r:embed="rId2"/>
                <a:stretch>
                  <a:fillRect l="-1434" t="-1867" r="-12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2358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EA656-AFF5-975E-D828-B75062225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512" y="495300"/>
            <a:ext cx="7980975" cy="802640"/>
          </a:xfrm>
        </p:spPr>
        <p:txBody>
          <a:bodyPr/>
          <a:lstStyle/>
          <a:p>
            <a:r>
              <a:rPr lang="en-IN" dirty="0"/>
              <a:t>Steady-State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B07A2F-8B10-20F6-9B78-74092F051689}"/>
                  </a:ext>
                </a:extLst>
              </p:cNvPr>
              <p:cNvSpPr txBox="1"/>
              <p:nvPr/>
            </p:nvSpPr>
            <p:spPr>
              <a:xfrm>
                <a:off x="772012" y="2171700"/>
                <a:ext cx="16677788" cy="5878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4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ar-AE" sz="42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4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ar-AE" sz="42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4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denote the steady-state probabilities of the Markov chain.</a:t>
                </a:r>
              </a:p>
              <a:p>
                <a:endParaRPr lang="en-IN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These probabilities satisfy: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200" b="1" i="1"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IN" sz="4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4200" b="1" i="1"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IN" sz="4200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IN" sz="42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ar-AE" sz="42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ar-AE" sz="42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4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sz="42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ar-AE" sz="4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42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endParaRPr lang="ar-AE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The steady-state probabilities represent the long-term fraction of time spent in each channel state</a:t>
                </a:r>
                <a:r>
                  <a:rPr lang="en-IN" sz="4000" dirty="0"/>
                  <a:t>.</a:t>
                </a:r>
              </a:p>
              <a:p>
                <a:endParaRPr lang="en-IN" sz="4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B07A2F-8B10-20F6-9B78-74092F051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12" y="2171700"/>
                <a:ext cx="16677788" cy="5878532"/>
              </a:xfrm>
              <a:prstGeom prst="rect">
                <a:avLst/>
              </a:prstGeom>
              <a:blipFill>
                <a:blip r:embed="rId2"/>
                <a:stretch>
                  <a:fillRect l="-1425" t="-2073" r="-9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9240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8BC88-A254-04C2-4FC2-E73C858CB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012" y="571500"/>
            <a:ext cx="6837975" cy="802640"/>
          </a:xfrm>
        </p:spPr>
        <p:txBody>
          <a:bodyPr/>
          <a:lstStyle/>
          <a:p>
            <a:r>
              <a:rPr lang="en-IN" dirty="0"/>
              <a:t>Role of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79F273-DF15-3CF0-8428-4CE4925D1D5B}"/>
                  </a:ext>
                </a:extLst>
              </p:cNvPr>
              <p:cNvSpPr txBox="1"/>
              <p:nvPr/>
            </p:nvSpPr>
            <p:spPr>
              <a:xfrm>
                <a:off x="685800" y="2204234"/>
                <a:ext cx="15925800" cy="5878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Simulations are used to validate the analytical model.</a:t>
                </a:r>
              </a:p>
              <a:p>
                <a:endParaRPr lang="en-IN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They are used to:</a:t>
                </a:r>
              </a:p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• Generate empirical PDFs and CDFs</a:t>
                </a:r>
                <a:b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</a:br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•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4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ar-AE" sz="42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4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ar-AE" sz="42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4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br>
                  <a:rPr lang="ar-AE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</a:br>
                <a:r>
                  <a:rPr lang="ar-AE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• </a:t>
                </a:r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Compare simulation results with Markov predictions</a:t>
                </a:r>
              </a:p>
              <a:p>
                <a:endParaRPr lang="en-IN" sz="42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endParaRPr>
              </a:p>
              <a:p>
                <a:r>
                  <a:rPr lang="en-IN" sz="42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Microsoft Sans Serif" panose="020B0604020202020204" pitchFamily="34" charset="0"/>
                  </a:rPr>
                  <a:t>Simulation supports, but does not replace, the probabilistic model.</a:t>
                </a:r>
              </a:p>
              <a:p>
                <a:endParaRPr lang="en-IN" sz="4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979F273-DF15-3CF0-8428-4CE4925D1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204234"/>
                <a:ext cx="15925800" cy="5878532"/>
              </a:xfrm>
              <a:prstGeom prst="rect">
                <a:avLst/>
              </a:prstGeom>
              <a:blipFill>
                <a:blip r:embed="rId2"/>
                <a:stretch>
                  <a:fillRect l="-1531" t="-2178" r="-2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6731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46D51-A8FE-8EE0-E7D2-E67BABC79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750" y="419100"/>
            <a:ext cx="9334500" cy="2354491"/>
          </a:xfrm>
        </p:spPr>
        <p:txBody>
          <a:bodyPr/>
          <a:lstStyle/>
          <a:p>
            <a:r>
              <a:rPr lang="en-IN" dirty="0"/>
              <a:t>Conclusion &amp; Next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69D044-A6D0-189E-C31E-5A5FCC3ED11A}"/>
              </a:ext>
            </a:extLst>
          </p:cNvPr>
          <p:cNvSpPr txBox="1"/>
          <p:nvPr/>
        </p:nvSpPr>
        <p:spPr>
          <a:xfrm>
            <a:off x="762000" y="2019568"/>
            <a:ext cx="16764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 this milestone, we developed a probabilistic and Markov chain model of BEBA.</a:t>
            </a:r>
          </a:p>
          <a:p>
            <a:endParaRPr lang="en-US" sz="4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n-US" sz="4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Random variables and probability distributions explain how backoff controls channel access.</a:t>
            </a:r>
          </a:p>
          <a:p>
            <a:endParaRPr lang="en-US" sz="4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n-US" sz="4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Markov modeling captures the state-dependent nature of BEBA.</a:t>
            </a:r>
          </a:p>
          <a:p>
            <a:endParaRPr lang="en-US" sz="42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r>
              <a:rPr lang="en-US" sz="4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 the next milestone, we will validate these analytical results using detailed simulations and performance evaluation</a:t>
            </a:r>
            <a:r>
              <a:rPr lang="en-US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3982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Words>948</Words>
  <Application>Microsoft Office PowerPoint</Application>
  <PresentationFormat>Custom</PresentationFormat>
  <Paragraphs>127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 Black</vt:lpstr>
      <vt:lpstr>Calibri</vt:lpstr>
      <vt:lpstr>Cambria Math</vt:lpstr>
      <vt:lpstr>Microsoft Sans Serif</vt:lpstr>
      <vt:lpstr>Office Theme</vt:lpstr>
      <vt:lpstr>CSE-400 Fundamentals of Probability in Computing</vt:lpstr>
      <vt:lpstr>An Analysis of the Binary Exponential Backoff Algorithm in Distributed MAC Protocols</vt:lpstr>
      <vt:lpstr>Milestone-2 Objective</vt:lpstr>
      <vt:lpstr>System Assumptions</vt:lpstr>
      <vt:lpstr>Key Random Variables </vt:lpstr>
      <vt:lpstr>Distribution of Backoff Counter</vt:lpstr>
      <vt:lpstr>Attempt Probability Model</vt:lpstr>
      <vt:lpstr>Number of Transmitting Stations</vt:lpstr>
      <vt:lpstr>Channel State Probabilities</vt:lpstr>
      <vt:lpstr>PDF and CDF</vt:lpstr>
      <vt:lpstr>Limitation of Memoryless Models</vt:lpstr>
      <vt:lpstr>Markov Chain Modeling</vt:lpstr>
      <vt:lpstr>Detailed Markov States</vt:lpstr>
      <vt:lpstr>Simplified Three-State Markov Model</vt:lpstr>
      <vt:lpstr>Steady-State Analysis</vt:lpstr>
      <vt:lpstr>Role of Simulation</vt:lpstr>
      <vt:lpstr>Conclusion &amp;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CSE-400 Fundamentals of Probability in Computing</dc:title>
  <dc:creator>Khushi</dc:creator>
  <cp:keywords>DAHAPrwuP0Y,BAEgQSw82os,0</cp:keywords>
  <cp:lastModifiedBy>divyaraj vaghela</cp:lastModifiedBy>
  <cp:revision>5</cp:revision>
  <dcterms:created xsi:type="dcterms:W3CDTF">2026-02-03T19:20:22Z</dcterms:created>
  <dcterms:modified xsi:type="dcterms:W3CDTF">2026-02-19T14:23:30Z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2026-02-03T00:00:00Z</vt:filetime>
  </property>
  <property fmtid="{D5CDD505-2E9C-101B-9397-08002B2CF9AE}" pid="3" name="Creator">
    <vt:lpwstr>Canva</vt:lpwstr>
  </property>
  <property fmtid="{D5CDD505-2E9C-101B-9397-08002B2CF9AE}" pid="4" name="LastSaved">
    <vt:filetime>2026-02-03T00:00:00Z</vt:filetime>
  </property>
  <property fmtid="{D5CDD505-2E9C-101B-9397-08002B2CF9AE}" pid="5" name="Producer">
    <vt:lpwstr>Canva</vt:lpwstr>
  </property>
</Properties>
</file>