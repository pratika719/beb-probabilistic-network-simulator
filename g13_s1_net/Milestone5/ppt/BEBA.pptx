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UHdXQggGw8paN+xdboug8eiEy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ono-regular.fntdata"/><Relationship Id="rId25" Type="http://schemas.openxmlformats.org/officeDocument/2006/relationships/font" Target="fonts/HelveticaNeueLight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70b5e2fef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70b5e2fef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870b5e2fef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70b5e2fef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70b5e2fef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870b5e2fef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d5ffcb4f0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d5ffcb4f0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d5ffcb4f0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 is an electric field,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Pole on ZOOM: The diode Cathode corresponds to the n-type region while anode corresponds to the p-type region (True , False)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9"/>
          <p:cNvSpPr txBox="1"/>
          <p:nvPr>
            <p:ph idx="1" type="body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9"/>
          <p:cNvPicPr preferRelativeResize="0"/>
          <p:nvPr/>
        </p:nvPicPr>
        <p:blipFill rotWithShape="1">
          <a:blip r:embed="rId2">
            <a:alphaModFix/>
          </a:blip>
          <a:srcRect b="42109" l="31991" r="32034" t="42026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9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0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4" name="Google Shape;34;p31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32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42" name="Google Shape;42;p3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33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7" name="Google Shape;47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49" name="Google Shape;49;p3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0" name="Google Shape;50;p34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3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55" name="Google Shape;55;p3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35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64" name="Google Shape;64;p3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5" name="Google Shape;65;p36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3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37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38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83" name="Google Shape;83;p3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39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28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2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8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8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7" name="Google Shape;17;p2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self.cw" TargetMode="External"/><Relationship Id="rId4" Type="http://schemas.openxmlformats.org/officeDocument/2006/relationships/hyperlink" Target="http://self.cw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ideals.illinois.edu/items/11087/bitstreams/40891/objec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2" type="body"/>
          </p:nvPr>
        </p:nvSpPr>
        <p:spPr>
          <a:xfrm>
            <a:off x="549200" y="2602018"/>
            <a:ext cx="105159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IN"/>
              <a:t>Analysis of Binary Exponential Backoff Algorithm in Distributed MAC Protocols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838725" y="3761300"/>
            <a:ext cx="665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Section -1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Group 13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Networks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03275" y="3761300"/>
            <a:ext cx="4738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</a:rPr>
              <a:t>Khushi Panchal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</a:rPr>
              <a:t>Divyaraj Vaghela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</a:rPr>
              <a:t>Pratik Agrawal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</a:rPr>
              <a:t>Datt Suthar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70b5e2fef_0_20"/>
          <p:cNvSpPr txBox="1"/>
          <p:nvPr>
            <p:ph type="title"/>
          </p:nvPr>
        </p:nvSpPr>
        <p:spPr>
          <a:xfrm>
            <a:off x="587378" y="26035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B</a:t>
            </a:r>
            <a:r>
              <a:rPr lang="en-IN"/>
              <a:t>ackground and Motivation</a:t>
            </a:r>
            <a:endParaRPr/>
          </a:p>
        </p:txBody>
      </p:sp>
      <p:sp>
        <p:nvSpPr>
          <p:cNvPr id="98" name="Google Shape;98;g3870b5e2fef_0_20"/>
          <p:cNvSpPr txBox="1"/>
          <p:nvPr>
            <p:ph idx="1" type="body"/>
          </p:nvPr>
        </p:nvSpPr>
        <p:spPr>
          <a:xfrm>
            <a:off x="587375" y="1676425"/>
            <a:ext cx="5508600" cy="270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100">
                <a:latin typeface="Arial"/>
                <a:ea typeface="Arial"/>
                <a:cs typeface="Arial"/>
                <a:sym typeface="Arial"/>
              </a:rPr>
              <a:t>Course Perspective: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Study of Medium Access Control (MAC) protocols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Understanding Binary Exponential Backoff Algorithms (BEBA)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Application of probability and Markov chain modeling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IN" sz="1900">
                <a:latin typeface="Arial"/>
                <a:ea typeface="Arial"/>
                <a:cs typeface="Arial"/>
                <a:sym typeface="Arial"/>
              </a:rPr>
              <a:t>Analysis of distributed network behavior</a:t>
            </a:r>
            <a:endParaRPr sz="4200"/>
          </a:p>
        </p:txBody>
      </p:sp>
      <p:sp>
        <p:nvSpPr>
          <p:cNvPr id="99" name="Google Shape;99;g3870b5e2fef_0_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00" name="Google Shape;100;g3870b5e2fef_0_20"/>
          <p:cNvSpPr txBox="1"/>
          <p:nvPr/>
        </p:nvSpPr>
        <p:spPr>
          <a:xfrm>
            <a:off x="6096000" y="1676425"/>
            <a:ext cx="52578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100">
                <a:solidFill>
                  <a:schemeClr val="dk1"/>
                </a:solidFill>
              </a:rPr>
              <a:t>Real-World Perspective: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Used in WiFi (IEEE 802.11) networks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Multiple devices share the same communication channel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Requires coordination without central control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Affects network reliability and user experience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01" name="Google Shape;101;g3870b5e2fef_0_20"/>
          <p:cNvSpPr txBox="1"/>
          <p:nvPr/>
        </p:nvSpPr>
        <p:spPr>
          <a:xfrm>
            <a:off x="850475" y="4421100"/>
            <a:ext cx="9952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100">
                <a:solidFill>
                  <a:schemeClr val="dk1"/>
                </a:solidFill>
              </a:rPr>
              <a:t>Motivation: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Need to understand channel access mechanisms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Aim to improve efficiency and scalability of networks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70b5e2fef_0_13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Base Paper Overview</a:t>
            </a:r>
            <a:endParaRPr/>
          </a:p>
        </p:txBody>
      </p:sp>
      <p:sp>
        <p:nvSpPr>
          <p:cNvPr id="108" name="Google Shape;108;g3870b5e2fef_0_13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IN" sz="2100">
                <a:latin typeface="Arial"/>
                <a:ea typeface="Arial"/>
                <a:cs typeface="Arial"/>
                <a:sym typeface="Arial"/>
              </a:rPr>
              <a:t>Analyzes the Binary Exponential Backoff (BEB) algorithm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IN" sz="2100">
                <a:latin typeface="Arial"/>
                <a:ea typeface="Arial"/>
                <a:cs typeface="Arial"/>
                <a:sym typeface="Arial"/>
              </a:rPr>
              <a:t>Focuses on distributed MAC protocols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IN" sz="2100">
                <a:latin typeface="Arial"/>
                <a:ea typeface="Arial"/>
                <a:cs typeface="Arial"/>
                <a:sym typeface="Arial"/>
              </a:rPr>
              <a:t>Proposes a generalized analytical framework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IN" sz="2100">
                <a:latin typeface="Arial"/>
                <a:ea typeface="Arial"/>
                <a:cs typeface="Arial"/>
                <a:sym typeface="Arial"/>
              </a:rPr>
              <a:t>Uses Markov chain-based modeling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IN" sz="2100">
                <a:latin typeface="Arial"/>
                <a:ea typeface="Arial"/>
                <a:cs typeface="Arial"/>
                <a:sym typeface="Arial"/>
              </a:rPr>
              <a:t>Identifies differences from traditional assumptions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IN" sz="2100">
                <a:latin typeface="Arial"/>
                <a:ea typeface="Arial"/>
                <a:cs typeface="Arial"/>
                <a:sym typeface="Arial"/>
              </a:rPr>
              <a:t>Highlights non-uniform channel access behavior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IN" sz="2100">
                <a:latin typeface="Arial"/>
                <a:ea typeface="Arial"/>
                <a:cs typeface="Arial"/>
                <a:sym typeface="Arial"/>
              </a:rPr>
              <a:t>Validates results using simulation studies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870b5e2fef_0_1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594303" y="266700"/>
            <a:ext cx="10515600" cy="7308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Problem Formulation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2156700" y="1430350"/>
            <a:ext cx="7878600" cy="3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solidFill>
                  <a:schemeClr val="dk1"/>
                </a:solidFill>
              </a:rPr>
              <a:t>Problem:</a:t>
            </a:r>
            <a:br>
              <a:rPr b="1" lang="en-IN" sz="2100">
                <a:solidFill>
                  <a:schemeClr val="dk1"/>
                </a:solidFill>
              </a:rPr>
            </a:br>
            <a:r>
              <a:rPr lang="en-IN" sz="2100">
                <a:solidFill>
                  <a:schemeClr val="dk1"/>
                </a:solidFill>
              </a:rPr>
              <a:t> When multiple nodes attempt transmission: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Collisions occur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Throughput decreases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Delay increases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Channel efficiency drops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144775" y="4383150"/>
            <a:ext cx="9735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We use BEBA to minimize these problems and analyse it using Discrete markov chain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594303" y="266701"/>
            <a:ext cx="10515600" cy="8272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Mathematical Model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659125" y="2118575"/>
            <a:ext cx="8587500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solidFill>
                  <a:schemeClr val="dk1"/>
                </a:solidFill>
              </a:rPr>
              <a:t>Channel states: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Idle (I)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Success (S)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Collision (C)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051700" y="2118575"/>
            <a:ext cx="5136300" cy="3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Probability equations:</a:t>
            </a:r>
            <a:endParaRPr b="1"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Idle probability:</a:t>
            </a:r>
            <a:endParaRPr sz="2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Pᵢᵢ = (1 - τ)ᴺ</a:t>
            </a:r>
            <a:endParaRPr sz="2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Success probability:</a:t>
            </a:r>
            <a:endParaRPr sz="2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Pᵢₛ = Nτ(1 − τ)ᴺ⁻¹</a:t>
            </a:r>
            <a:endParaRPr sz="2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Collision probability:</a:t>
            </a:r>
            <a:endParaRPr sz="2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Pᵢ꜀ = 1 − Pᵢᵢ − Pᵢₛ</a:t>
            </a:r>
            <a:endParaRPr sz="2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7319325" y="2118575"/>
            <a:ext cx="4680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chemeClr val="dk1"/>
                </a:solidFill>
              </a:rPr>
              <a:t>N</a:t>
            </a:r>
            <a:r>
              <a:rPr lang="en-IN" sz="2200">
                <a:solidFill>
                  <a:schemeClr val="dk1"/>
                </a:solidFill>
              </a:rPr>
              <a:t> = number of nodes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τ</a:t>
            </a:r>
            <a:r>
              <a:rPr b="1" lang="en-I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IN" sz="2200">
                <a:solidFill>
                  <a:schemeClr val="dk1"/>
                </a:solidFill>
              </a:rPr>
              <a:t>= transmission probability = 2/CW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CW </a:t>
            </a:r>
            <a:r>
              <a:rPr lang="en-IN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= </a:t>
            </a:r>
            <a:r>
              <a:rPr lang="en-IN" sz="2000">
                <a:solidFill>
                  <a:schemeClr val="dk1"/>
                </a:solidFill>
              </a:rPr>
              <a:t>Contention wind</a:t>
            </a:r>
            <a:r>
              <a:rPr lang="en-IN" sz="2100">
                <a:solidFill>
                  <a:schemeClr val="dk1"/>
                </a:solidFill>
              </a:rPr>
              <a:t>ow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00">
                <a:solidFill>
                  <a:schemeClr val="dk1"/>
                </a:solidFill>
              </a:rPr>
              <a:t>Backoff value</a:t>
            </a:r>
            <a:r>
              <a:rPr lang="en-IN" sz="2100">
                <a:solidFill>
                  <a:schemeClr val="dk1"/>
                </a:solidFill>
              </a:rPr>
              <a:t> = (0,CW-1)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26" name="Google Shape;12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050" y="3840275"/>
            <a:ext cx="3038889" cy="241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287075" y="1116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Deterministic Approach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2253600" y="3429000"/>
            <a:ext cx="7378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●"/>
            </a:pPr>
            <a:r>
              <a:rPr lang="en-IN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Initialization: starts with CW_min (0,CW_min-1)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●"/>
            </a:pPr>
            <a:r>
              <a:rPr lang="en-IN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Success: CW resets to CW_min (0, CW-1)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●"/>
            </a:pPr>
            <a:r>
              <a:rPr lang="en-IN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Collision: CW*2 till CW_max (0,CW*2-1)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2253600" y="1851500"/>
            <a:ext cx="76848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arrival_interval = max(1, int(round(1/p)))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●"/>
            </a:pPr>
            <a:r>
              <a:rPr lang="en-IN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self.backoff = (CW//2 + node_id) % CW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Expected backoff counter:E[R] = (CW − 1)/2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2253600" y="5073300"/>
            <a:ext cx="825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●"/>
            </a:pPr>
            <a:r>
              <a:rPr lang="en-IN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KPIs:     </a:t>
            </a:r>
            <a:r>
              <a:rPr lang="en-IN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Throughput</a:t>
            </a:r>
            <a:r>
              <a:rPr lang="en-IN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= Successful transmissions / T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	        Collision rate = Collisions / T</a:t>
            </a:r>
            <a:endParaRPr sz="24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838200" y="365126"/>
            <a:ext cx="10515600" cy="7512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Randomized Approach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190500" y="1866600"/>
            <a:ext cx="59055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AutoNum type="arabicPeriod"/>
            </a:pPr>
            <a:r>
              <a:rPr lang="en-IN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Fully randomized: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self.backoff = self.rng.integers(0, </a:t>
            </a:r>
            <a:r>
              <a:rPr lang="en-IN" sz="2300">
                <a:solidFill>
                  <a:schemeClr val="hlink"/>
                </a:solidFill>
                <a:uFill>
                  <a:noFill/>
                </a:uFill>
                <a:latin typeface="Helvetica Neue Light"/>
                <a:ea typeface="Helvetica Neue Light"/>
                <a:cs typeface="Helvetica Neue Light"/>
                <a:sym typeface="Helvetica Neue Light"/>
                <a:hlinkClick r:id="rId3"/>
              </a:rPr>
              <a:t>self.cw</a:t>
            </a:r>
            <a:r>
              <a:rPr lang="en-IN" sz="23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23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solidFill>
                  <a:schemeClr val="dk1"/>
                </a:solidFill>
              </a:rPr>
              <a:t>Initialization:</a:t>
            </a:r>
            <a:r>
              <a:rPr lang="en-IN" sz="1900">
                <a:solidFill>
                  <a:schemeClr val="dk1"/>
                </a:solidFill>
              </a:rPr>
              <a:t> starts with CW_min and assigns random backoff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solidFill>
                  <a:schemeClr val="dk1"/>
                </a:solidFill>
              </a:rPr>
              <a:t>Success:</a:t>
            </a:r>
            <a:r>
              <a:rPr lang="en-IN" sz="1900">
                <a:solidFill>
                  <a:schemeClr val="dk1"/>
                </a:solidFill>
              </a:rPr>
              <a:t> CW resets to CW_min and random backoff generated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900">
                <a:solidFill>
                  <a:schemeClr val="dk1"/>
                </a:solidFill>
              </a:rPr>
              <a:t>Collision:</a:t>
            </a:r>
            <a:r>
              <a:rPr lang="en-IN" sz="1900">
                <a:solidFill>
                  <a:schemeClr val="dk1"/>
                </a:solidFill>
              </a:rPr>
              <a:t> CW * 2 till CW_max and random backoff recalculated</a:t>
            </a:r>
            <a:endParaRPr sz="3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6022725" y="1789650"/>
            <a:ext cx="6286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2. R</a:t>
            </a:r>
            <a:r>
              <a:rPr lang="en-IN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andomized only at collison: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n-IN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Initialization / Success: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self.backoff = </a:t>
            </a:r>
            <a:r>
              <a:rPr lang="en-IN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(CW//2 + node_id) % CW</a:t>
            </a:r>
            <a:endParaRPr sz="1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n-IN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Collision: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self.backoff = np.random.randint(0, </a:t>
            </a:r>
            <a:r>
              <a:rPr lang="en-IN" sz="2000">
                <a:solidFill>
                  <a:schemeClr val="hlink"/>
                </a:solidFill>
                <a:uFill>
                  <a:noFill/>
                </a:uFill>
                <a:latin typeface="Helvetica Neue Light"/>
                <a:ea typeface="Helvetica Neue Light"/>
                <a:cs typeface="Helvetica Neue Light"/>
                <a:sym typeface="Helvetica Neue Light"/>
                <a:hlinkClick r:id="rId4"/>
              </a:rPr>
              <a:t>self.cw</a:t>
            </a:r>
            <a:r>
              <a:rPr lang="en-IN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solidFill>
                  <a:schemeClr val="dk1"/>
                </a:solidFill>
              </a:rPr>
              <a:t>Initialization:</a:t>
            </a:r>
            <a:r>
              <a:rPr lang="en-IN" sz="1900">
                <a:solidFill>
                  <a:schemeClr val="dk1"/>
                </a:solidFill>
              </a:rPr>
              <a:t> deterministic backoff using CW_min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900">
                <a:solidFill>
                  <a:schemeClr val="dk1"/>
                </a:solidFill>
              </a:rPr>
              <a:t>Success:</a:t>
            </a:r>
            <a:r>
              <a:rPr lang="en-IN" sz="1900">
                <a:solidFill>
                  <a:schemeClr val="dk1"/>
                </a:solidFill>
              </a:rPr>
              <a:t> CW resets to CW_min using deterministic formula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900">
                <a:solidFill>
                  <a:schemeClr val="dk1"/>
                </a:solidFill>
              </a:rPr>
              <a:t>Collision:</a:t>
            </a:r>
            <a:r>
              <a:rPr lang="en-IN" sz="1900">
                <a:solidFill>
                  <a:schemeClr val="dk1"/>
                </a:solidFill>
              </a:rPr>
              <a:t> CW * 2 till CW_max and random backoff generated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367750" y="1"/>
            <a:ext cx="105156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Results</a:t>
            </a:r>
            <a:endParaRPr/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1274"/>
          <a:stretch/>
        </p:blipFill>
        <p:spPr>
          <a:xfrm>
            <a:off x="1656925" y="773699"/>
            <a:ext cx="4897526" cy="599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4450" y="773700"/>
            <a:ext cx="4677242" cy="59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d5ffcb4f0_1_4"/>
          <p:cNvSpPr txBox="1"/>
          <p:nvPr>
            <p:ph type="title"/>
          </p:nvPr>
        </p:nvSpPr>
        <p:spPr>
          <a:xfrm>
            <a:off x="838200" y="-28145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Coding and Simulations</a:t>
            </a:r>
            <a:endParaRPr/>
          </a:p>
        </p:txBody>
      </p:sp>
      <p:sp>
        <p:nvSpPr>
          <p:cNvPr id="155" name="Google Shape;155;g3dd5ffcb4f0_1_4"/>
          <p:cNvSpPr txBox="1"/>
          <p:nvPr>
            <p:ph idx="1" type="body"/>
          </p:nvPr>
        </p:nvSpPr>
        <p:spPr>
          <a:xfrm>
            <a:off x="219825" y="1119950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Language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: Python 3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Libraries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NumPy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default_rng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randint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: Jupyter Notebook </a:t>
            </a:r>
            <a:endParaRPr sz="3300"/>
          </a:p>
        </p:txBody>
      </p:sp>
      <p:sp>
        <p:nvSpPr>
          <p:cNvPr id="156" name="Google Shape;156;g3dd5ffcb4f0_1_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pic>
        <p:nvPicPr>
          <p:cNvPr id="157" name="Google Shape;157;g3dd5ffcb4f0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13" y="2966325"/>
            <a:ext cx="5118100" cy="35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dd5ffcb4f0_1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425" y="1119950"/>
            <a:ext cx="6119124" cy="54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type="title"/>
          </p:nvPr>
        </p:nvSpPr>
        <p:spPr>
          <a:xfrm>
            <a:off x="640650" y="329950"/>
            <a:ext cx="104358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Inference – Domain Perspective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838200" y="1630050"/>
            <a:ext cx="10040700" cy="3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Uses probability to model unpredictable behavior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Helps decide outcomes like idle, success, or collision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Converts observations → meaningful decisions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Can be deterministic or probabilistic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</a:rPr>
              <a:t>Used to analyze and predict system performance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>
            <p:ph type="title"/>
          </p:nvPr>
        </p:nvSpPr>
        <p:spPr>
          <a:xfrm>
            <a:off x="732325" y="305500"/>
            <a:ext cx="10515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Inference – Computer Science Perspective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548650" y="1501725"/>
            <a:ext cx="110784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Inference = algorithm taking input and producing output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Input: packet arrival (p), backoff, queue state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Processing: BEB logic + backoff mechanism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Output: idle / success / collision decision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Uses randomness: </a:t>
            </a:r>
            <a:r>
              <a:rPr lang="en-I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np.random.rand()</a:t>
            </a:r>
            <a:r>
              <a:rPr lang="en-IN" sz="2400">
                <a:solidFill>
                  <a:schemeClr val="dk1"/>
                </a:solidFill>
              </a:rPr>
              <a:t> and </a:t>
            </a:r>
            <a:r>
              <a:rPr lang="en-I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np.random.randint()</a:t>
            </a:r>
            <a:endParaRPr sz="2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</a:rPr>
              <a:t>Performance measured using throughput and collision rate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type="title"/>
          </p:nvPr>
        </p:nvSpPr>
        <p:spPr>
          <a:xfrm>
            <a:off x="516338" y="415526"/>
            <a:ext cx="105156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177" name="Google Shape;177;p9">
            <a:hlinkClick r:id="rId3"/>
          </p:cNvPr>
          <p:cNvSpPr txBox="1"/>
          <p:nvPr/>
        </p:nvSpPr>
        <p:spPr>
          <a:xfrm>
            <a:off x="516350" y="1459350"/>
            <a:ext cx="1136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https://www.ideals.illinois.edu/items/11087/bitstreams/40891/object</a:t>
            </a:r>
            <a:endParaRPr sz="2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>
            <p:ph type="title"/>
          </p:nvPr>
        </p:nvSpPr>
        <p:spPr>
          <a:xfrm>
            <a:off x="4729375" y="2797801"/>
            <a:ext cx="1051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rPr lang="en-IN"/>
              <a:t>Thank You</a:t>
            </a:r>
            <a:endParaRPr/>
          </a:p>
        </p:txBody>
      </p:sp>
      <p:sp>
        <p:nvSpPr>
          <p:cNvPr id="183" name="Google Shape;183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/>
              <a:t>|</a:t>
            </a:r>
            <a:r>
              <a:rPr lang="en-IN"/>
              <a:t> 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13-02-2024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U template 2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2022-01-11T05:59:55Z</dcterms:created>
  <dc:creator>Maryam Kaveshgar</dc:creator>
</cp:coreProperties>
</file>